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Arimo Bold" panose="020B0604020202020204" charset="0"/>
      <p:regular r:id="rId13"/>
    </p:embeddedFont>
    <p:embeddedFont>
      <p:font typeface="Inter" panose="020B0604020202020204" charset="0"/>
      <p:regular r:id="rId14"/>
    </p:embeddedFont>
    <p:embeddedFont>
      <p:font typeface="Inter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1" d="100"/>
          <a:sy n="31" d="100"/>
        </p:scale>
        <p:origin x="1042"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Chinmay-Salokhe/Healthcare-Analytics-for-Doctor-Visits.git" TargetMode="External"/><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1426"/>
        </a:solidFill>
        <a:effectLst/>
      </p:bgPr>
    </p:bg>
    <p:spTree>
      <p:nvGrpSpPr>
        <p:cNvPr id="1" name=""/>
        <p:cNvGrpSpPr/>
        <p:nvPr/>
      </p:nvGrpSpPr>
      <p:grpSpPr>
        <a:xfrm>
          <a:off x="0" y="0"/>
          <a:ext cx="0" cy="0"/>
          <a:chOff x="0" y="0"/>
          <a:chExt cx="0" cy="0"/>
        </a:xfrm>
      </p:grpSpPr>
      <p:grpSp>
        <p:nvGrpSpPr>
          <p:cNvPr id="2" name="Group 2"/>
          <p:cNvGrpSpPr/>
          <p:nvPr/>
        </p:nvGrpSpPr>
        <p:grpSpPr>
          <a:xfrm>
            <a:off x="1021556" y="8165306"/>
            <a:ext cx="16244888" cy="1328738"/>
            <a:chOff x="0" y="0"/>
            <a:chExt cx="21659850" cy="1771650"/>
          </a:xfrm>
        </p:grpSpPr>
        <p:sp>
          <p:nvSpPr>
            <p:cNvPr id="3" name="Freeform 3"/>
            <p:cNvSpPr/>
            <p:nvPr/>
          </p:nvSpPr>
          <p:spPr>
            <a:xfrm>
              <a:off x="0" y="0"/>
              <a:ext cx="21659850" cy="1771650"/>
            </a:xfrm>
            <a:custGeom>
              <a:avLst/>
              <a:gdLst/>
              <a:ahLst/>
              <a:cxnLst/>
              <a:rect l="l" t="t" r="r" b="b"/>
              <a:pathLst>
                <a:path w="21659850" h="1771650">
                  <a:moveTo>
                    <a:pt x="0" y="269621"/>
                  </a:moveTo>
                  <a:cubicBezTo>
                    <a:pt x="0" y="120650"/>
                    <a:pt x="120650" y="0"/>
                    <a:pt x="269621" y="0"/>
                  </a:cubicBezTo>
                  <a:lnTo>
                    <a:pt x="21390229" y="0"/>
                  </a:lnTo>
                  <a:cubicBezTo>
                    <a:pt x="21539073" y="0"/>
                    <a:pt x="21659850" y="120650"/>
                    <a:pt x="21659850" y="269621"/>
                  </a:cubicBezTo>
                  <a:lnTo>
                    <a:pt x="21659850" y="1502029"/>
                  </a:lnTo>
                  <a:cubicBezTo>
                    <a:pt x="21659850" y="1650873"/>
                    <a:pt x="21539200" y="1771650"/>
                    <a:pt x="21390229" y="1771650"/>
                  </a:cubicBezTo>
                  <a:lnTo>
                    <a:pt x="269621" y="1771650"/>
                  </a:lnTo>
                  <a:cubicBezTo>
                    <a:pt x="120650" y="1771650"/>
                    <a:pt x="0" y="1651000"/>
                    <a:pt x="0" y="1502029"/>
                  </a:cubicBezTo>
                  <a:close/>
                </a:path>
              </a:pathLst>
            </a:custGeom>
            <a:solidFill>
              <a:srgbClr val="131D2F"/>
            </a:solidFill>
            <a:ln w="14288" cap="sq">
              <a:solidFill>
                <a:srgbClr val="1E293B"/>
              </a:solidFill>
              <a:prstDash val="solid"/>
              <a:miter/>
            </a:ln>
          </p:spPr>
          <p:txBody>
            <a:bodyPr/>
            <a:lstStyle/>
            <a:p>
              <a:endParaRPr lang="en-US" dirty="0"/>
            </a:p>
          </p:txBody>
        </p:sp>
      </p:grpSp>
      <p:grpSp>
        <p:nvGrpSpPr>
          <p:cNvPr id="4" name="Group 4"/>
          <p:cNvGrpSpPr/>
          <p:nvPr/>
        </p:nvGrpSpPr>
        <p:grpSpPr>
          <a:xfrm>
            <a:off x="5887345" y="8543925"/>
            <a:ext cx="14288" cy="571500"/>
            <a:chOff x="0" y="0"/>
            <a:chExt cx="19050" cy="762000"/>
          </a:xfrm>
        </p:grpSpPr>
        <p:sp>
          <p:nvSpPr>
            <p:cNvPr id="5" name="Freeform 5"/>
            <p:cNvSpPr/>
            <p:nvPr/>
          </p:nvSpPr>
          <p:spPr>
            <a:xfrm>
              <a:off x="0" y="0"/>
              <a:ext cx="19050" cy="762000"/>
            </a:xfrm>
            <a:custGeom>
              <a:avLst/>
              <a:gdLst/>
              <a:ahLst/>
              <a:cxnLst/>
              <a:rect l="l" t="t" r="r" b="b"/>
              <a:pathLst>
                <a:path w="19050" h="762000">
                  <a:moveTo>
                    <a:pt x="0" y="0"/>
                  </a:moveTo>
                  <a:lnTo>
                    <a:pt x="19050" y="0"/>
                  </a:lnTo>
                  <a:lnTo>
                    <a:pt x="19050" y="762000"/>
                  </a:lnTo>
                  <a:lnTo>
                    <a:pt x="0" y="762000"/>
                  </a:lnTo>
                  <a:close/>
                </a:path>
              </a:pathLst>
            </a:custGeom>
            <a:solidFill>
              <a:srgbClr val="1E293B"/>
            </a:solidFill>
          </p:spPr>
        </p:sp>
      </p:grpSp>
      <p:grpSp>
        <p:nvGrpSpPr>
          <p:cNvPr id="6" name="Group 6"/>
          <p:cNvGrpSpPr/>
          <p:nvPr/>
        </p:nvGrpSpPr>
        <p:grpSpPr>
          <a:xfrm>
            <a:off x="12386367" y="8543925"/>
            <a:ext cx="14288" cy="571500"/>
            <a:chOff x="0" y="0"/>
            <a:chExt cx="19050" cy="762000"/>
          </a:xfrm>
        </p:grpSpPr>
        <p:sp>
          <p:nvSpPr>
            <p:cNvPr id="7" name="Freeform 7"/>
            <p:cNvSpPr/>
            <p:nvPr/>
          </p:nvSpPr>
          <p:spPr>
            <a:xfrm>
              <a:off x="0" y="0"/>
              <a:ext cx="19050" cy="762000"/>
            </a:xfrm>
            <a:custGeom>
              <a:avLst/>
              <a:gdLst/>
              <a:ahLst/>
              <a:cxnLst/>
              <a:rect l="l" t="t" r="r" b="b"/>
              <a:pathLst>
                <a:path w="19050" h="762000">
                  <a:moveTo>
                    <a:pt x="0" y="0"/>
                  </a:moveTo>
                  <a:lnTo>
                    <a:pt x="19050" y="0"/>
                  </a:lnTo>
                  <a:lnTo>
                    <a:pt x="19050" y="762000"/>
                  </a:lnTo>
                  <a:lnTo>
                    <a:pt x="0" y="762000"/>
                  </a:lnTo>
                  <a:close/>
                </a:path>
              </a:pathLst>
            </a:custGeom>
            <a:solidFill>
              <a:srgbClr val="1E293B"/>
            </a:solidFill>
          </p:spPr>
        </p:sp>
      </p:grpSp>
      <p:sp>
        <p:nvSpPr>
          <p:cNvPr id="8" name="TextBox 8"/>
          <p:cNvSpPr txBox="1"/>
          <p:nvPr/>
        </p:nvSpPr>
        <p:spPr>
          <a:xfrm>
            <a:off x="1028700" y="3439716"/>
            <a:ext cx="17259300" cy="271462"/>
          </a:xfrm>
          <a:prstGeom prst="rect">
            <a:avLst/>
          </a:prstGeom>
        </p:spPr>
        <p:txBody>
          <a:bodyPr lIns="0" tIns="0" rIns="0" bIns="0" rtlCol="0" anchor="t">
            <a:spAutoFit/>
          </a:bodyPr>
          <a:lstStyle/>
          <a:p>
            <a:pPr algn="l">
              <a:lnSpc>
                <a:spcPts val="2025"/>
              </a:lnSpc>
            </a:pPr>
            <a:r>
              <a:rPr lang="en-US" sz="1687" b="1">
                <a:solidFill>
                  <a:srgbClr val="38BDF8"/>
                </a:solidFill>
                <a:latin typeface="Inter Bold"/>
                <a:ea typeface="Inter Bold"/>
                <a:cs typeface="Inter Bold"/>
                <a:sym typeface="Inter Bold"/>
              </a:rPr>
              <a:t>DOMAIN: HEALTHCARE ANALYTICS &amp; OUTPATIENT BEHAVIORAL MODELING</a:t>
            </a:r>
          </a:p>
        </p:txBody>
      </p:sp>
      <p:sp>
        <p:nvSpPr>
          <p:cNvPr id="9" name="TextBox 9"/>
          <p:cNvSpPr txBox="1"/>
          <p:nvPr/>
        </p:nvSpPr>
        <p:spPr>
          <a:xfrm>
            <a:off x="1028700" y="3873103"/>
            <a:ext cx="17259300" cy="831056"/>
          </a:xfrm>
          <a:prstGeom prst="rect">
            <a:avLst/>
          </a:prstGeom>
        </p:spPr>
        <p:txBody>
          <a:bodyPr lIns="0" tIns="0" rIns="0" bIns="0" rtlCol="0" anchor="t">
            <a:spAutoFit/>
          </a:bodyPr>
          <a:lstStyle/>
          <a:p>
            <a:pPr algn="l">
              <a:lnSpc>
                <a:spcPts val="6468"/>
              </a:lnSpc>
            </a:pPr>
            <a:r>
              <a:rPr lang="en-US" sz="5625" b="1">
                <a:solidFill>
                  <a:srgbClr val="FFFFFF"/>
                </a:solidFill>
                <a:latin typeface="Arimo Bold"/>
                <a:ea typeface="Arimo Bold"/>
                <a:cs typeface="Arimo Bold"/>
                <a:sym typeface="Arimo Bold"/>
              </a:rPr>
              <a:t>Healthcare Analytics for Doctor Visits</a:t>
            </a:r>
          </a:p>
        </p:txBody>
      </p:sp>
      <p:sp>
        <p:nvSpPr>
          <p:cNvPr id="10" name="TextBox 10"/>
          <p:cNvSpPr txBox="1"/>
          <p:nvPr/>
        </p:nvSpPr>
        <p:spPr>
          <a:xfrm>
            <a:off x="1028700" y="4866084"/>
            <a:ext cx="12287250" cy="923925"/>
          </a:xfrm>
          <a:prstGeom prst="rect">
            <a:avLst/>
          </a:prstGeom>
        </p:spPr>
        <p:txBody>
          <a:bodyPr lIns="0" tIns="0" rIns="0" bIns="0" rtlCol="0" anchor="t">
            <a:spAutoFit/>
          </a:bodyPr>
          <a:lstStyle/>
          <a:p>
            <a:pPr algn="l">
              <a:lnSpc>
                <a:spcPts val="3375"/>
              </a:lnSpc>
            </a:pPr>
            <a:r>
              <a:rPr lang="en-US" sz="2250" dirty="0">
                <a:solidFill>
                  <a:srgbClr val="94A3B8"/>
                </a:solidFill>
                <a:latin typeface="Inter"/>
                <a:ea typeface="Inter"/>
                <a:cs typeface="Inter"/>
                <a:sym typeface="Inter"/>
              </a:rPr>
              <a:t>Exploratory study analyzing demographic, health impairment, and subsidy assistance variables governing outpatient consultation frequency.</a:t>
            </a:r>
          </a:p>
        </p:txBody>
      </p:sp>
      <p:sp>
        <p:nvSpPr>
          <p:cNvPr id="11" name="TextBox 11"/>
          <p:cNvSpPr txBox="1"/>
          <p:nvPr/>
        </p:nvSpPr>
        <p:spPr>
          <a:xfrm>
            <a:off x="1676400" y="8467723"/>
            <a:ext cx="4769568" cy="214312"/>
          </a:xfrm>
          <a:prstGeom prst="rect">
            <a:avLst/>
          </a:prstGeom>
        </p:spPr>
        <p:txBody>
          <a:bodyPr lIns="0" tIns="0" rIns="0" bIns="0" rtlCol="0" anchor="t">
            <a:spAutoFit/>
          </a:bodyPr>
          <a:lstStyle/>
          <a:p>
            <a:pPr algn="l">
              <a:lnSpc>
                <a:spcPts val="1620"/>
              </a:lnSpc>
            </a:pPr>
            <a:r>
              <a:rPr lang="en-US" sz="1350" dirty="0">
                <a:solidFill>
                  <a:srgbClr val="FFFFFF"/>
                </a:solidFill>
                <a:latin typeface="Inter"/>
                <a:ea typeface="Inter"/>
                <a:cs typeface="Inter"/>
                <a:sym typeface="Inter"/>
              </a:rPr>
              <a:t>STUDENT NAME</a:t>
            </a:r>
          </a:p>
        </p:txBody>
      </p:sp>
      <p:sp>
        <p:nvSpPr>
          <p:cNvPr id="12" name="TextBox 12"/>
          <p:cNvSpPr txBox="1"/>
          <p:nvPr/>
        </p:nvSpPr>
        <p:spPr>
          <a:xfrm>
            <a:off x="1754761" y="8777287"/>
            <a:ext cx="1948815" cy="276225"/>
          </a:xfrm>
          <a:prstGeom prst="rect">
            <a:avLst/>
          </a:prstGeom>
        </p:spPr>
        <p:txBody>
          <a:bodyPr lIns="0" tIns="0" rIns="0" bIns="0" rtlCol="0" anchor="t">
            <a:spAutoFit/>
          </a:bodyPr>
          <a:lstStyle/>
          <a:p>
            <a:pPr algn="l">
              <a:lnSpc>
                <a:spcPts val="2190"/>
              </a:lnSpc>
            </a:pPr>
            <a:r>
              <a:rPr lang="en-US" sz="1825" b="1" dirty="0">
                <a:solidFill>
                  <a:srgbClr val="F8FAFC"/>
                </a:solidFill>
                <a:latin typeface="Inter Bold"/>
                <a:ea typeface="Inter Bold"/>
                <a:cs typeface="Inter Bold"/>
                <a:sym typeface="Inter Bold"/>
              </a:rPr>
              <a:t>Chinmay Salokhe</a:t>
            </a:r>
          </a:p>
        </p:txBody>
      </p:sp>
      <p:sp>
        <p:nvSpPr>
          <p:cNvPr id="13" name="TextBox 13"/>
          <p:cNvSpPr txBox="1"/>
          <p:nvPr/>
        </p:nvSpPr>
        <p:spPr>
          <a:xfrm>
            <a:off x="6638773" y="8529638"/>
            <a:ext cx="6677177" cy="214312"/>
          </a:xfrm>
          <a:prstGeom prst="rect">
            <a:avLst/>
          </a:prstGeom>
        </p:spPr>
        <p:txBody>
          <a:bodyPr lIns="0" tIns="0" rIns="0" bIns="0" rtlCol="0" anchor="t">
            <a:spAutoFit/>
          </a:bodyPr>
          <a:lstStyle/>
          <a:p>
            <a:pPr algn="l">
              <a:lnSpc>
                <a:spcPts val="1620"/>
              </a:lnSpc>
            </a:pPr>
            <a:r>
              <a:rPr lang="en-US" sz="1350">
                <a:solidFill>
                  <a:srgbClr val="FFFFFF"/>
                </a:solidFill>
                <a:latin typeface="Inter"/>
                <a:ea typeface="Inter"/>
                <a:cs typeface="Inter"/>
                <a:sym typeface="Inter"/>
              </a:rPr>
              <a:t>COLLEGE / INSTITUTION</a:t>
            </a:r>
          </a:p>
        </p:txBody>
      </p:sp>
      <p:sp>
        <p:nvSpPr>
          <p:cNvPr id="14" name="TextBox 14"/>
          <p:cNvSpPr txBox="1"/>
          <p:nvPr/>
        </p:nvSpPr>
        <p:spPr>
          <a:xfrm>
            <a:off x="5196778" y="8915400"/>
            <a:ext cx="6196370" cy="276225"/>
          </a:xfrm>
          <a:prstGeom prst="rect">
            <a:avLst/>
          </a:prstGeom>
        </p:spPr>
        <p:txBody>
          <a:bodyPr lIns="0" tIns="0" rIns="0" bIns="0" rtlCol="0" anchor="t">
            <a:spAutoFit/>
          </a:bodyPr>
          <a:lstStyle/>
          <a:p>
            <a:pPr algn="l">
              <a:lnSpc>
                <a:spcPts val="2190"/>
              </a:lnSpc>
            </a:pPr>
            <a:r>
              <a:rPr lang="en-US" sz="1825" b="1">
                <a:solidFill>
                  <a:srgbClr val="F8FAFC"/>
                </a:solidFill>
                <a:latin typeface="Inter Bold"/>
                <a:ea typeface="Inter Bold"/>
                <a:cs typeface="Inter Bold"/>
                <a:sym typeface="Inter Bold"/>
              </a:rPr>
              <a:t>D.Y.Patil College of Engineering &amp; Technology kolhapur</a:t>
            </a:r>
          </a:p>
        </p:txBody>
      </p:sp>
      <p:sp>
        <p:nvSpPr>
          <p:cNvPr id="15" name="TextBox 15"/>
          <p:cNvSpPr txBox="1"/>
          <p:nvPr/>
        </p:nvSpPr>
        <p:spPr>
          <a:xfrm>
            <a:off x="12972155" y="8529638"/>
            <a:ext cx="4769568" cy="214312"/>
          </a:xfrm>
          <a:prstGeom prst="rect">
            <a:avLst/>
          </a:prstGeom>
        </p:spPr>
        <p:txBody>
          <a:bodyPr lIns="0" tIns="0" rIns="0" bIns="0" rtlCol="0" anchor="t">
            <a:spAutoFit/>
          </a:bodyPr>
          <a:lstStyle/>
          <a:p>
            <a:pPr algn="l">
              <a:lnSpc>
                <a:spcPts val="1620"/>
              </a:lnSpc>
            </a:pPr>
            <a:r>
              <a:rPr lang="en-US" sz="1350">
                <a:solidFill>
                  <a:srgbClr val="FFFFFF"/>
                </a:solidFill>
                <a:latin typeface="Inter"/>
                <a:ea typeface="Inter"/>
                <a:cs typeface="Inter"/>
                <a:sym typeface="Inter"/>
              </a:rPr>
              <a:t>AICTE STUDENT ID</a:t>
            </a:r>
          </a:p>
        </p:txBody>
      </p:sp>
      <p:sp>
        <p:nvSpPr>
          <p:cNvPr id="16" name="TextBox 16"/>
          <p:cNvSpPr txBox="1"/>
          <p:nvPr/>
        </p:nvSpPr>
        <p:spPr>
          <a:xfrm>
            <a:off x="12400655" y="8915400"/>
            <a:ext cx="3668316" cy="276225"/>
          </a:xfrm>
          <a:prstGeom prst="rect">
            <a:avLst/>
          </a:prstGeom>
        </p:spPr>
        <p:txBody>
          <a:bodyPr lIns="0" tIns="0" rIns="0" bIns="0" rtlCol="0" anchor="t">
            <a:spAutoFit/>
          </a:bodyPr>
          <a:lstStyle/>
          <a:p>
            <a:pPr algn="l">
              <a:lnSpc>
                <a:spcPts val="2190"/>
              </a:lnSpc>
            </a:pPr>
            <a:r>
              <a:rPr lang="en-US" sz="1825" b="1">
                <a:solidFill>
                  <a:srgbClr val="38BDF8"/>
                </a:solidFill>
                <a:latin typeface="Inter Bold"/>
                <a:ea typeface="Inter Bold"/>
                <a:cs typeface="Inter Bold"/>
                <a:sym typeface="Inter Bold"/>
              </a:rPr>
              <a:t>STU666e79b37843d1718516147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 y="1600200"/>
            <a:ext cx="4929188" cy="28575"/>
            <a:chOff x="0" y="0"/>
            <a:chExt cx="6572250" cy="38100"/>
          </a:xfrm>
        </p:grpSpPr>
        <p:sp>
          <p:nvSpPr>
            <p:cNvPr id="3" name="Freeform 3"/>
            <p:cNvSpPr/>
            <p:nvPr/>
          </p:nvSpPr>
          <p:spPr>
            <a:xfrm>
              <a:off x="0" y="0"/>
              <a:ext cx="6572250" cy="38100"/>
            </a:xfrm>
            <a:custGeom>
              <a:avLst/>
              <a:gdLst/>
              <a:ahLst/>
              <a:cxnLst/>
              <a:rect l="l" t="t" r="r" b="b"/>
              <a:pathLst>
                <a:path w="6572250" h="38100">
                  <a:moveTo>
                    <a:pt x="0" y="0"/>
                  </a:moveTo>
                  <a:lnTo>
                    <a:pt x="6572250" y="0"/>
                  </a:lnTo>
                  <a:lnTo>
                    <a:pt x="6572250" y="38100"/>
                  </a:lnTo>
                  <a:lnTo>
                    <a:pt x="0" y="38100"/>
                  </a:lnTo>
                  <a:close/>
                </a:path>
              </a:pathLst>
            </a:custGeom>
            <a:solidFill>
              <a:srgbClr val="0284C7"/>
            </a:solidFill>
          </p:spPr>
        </p:sp>
      </p:grpSp>
      <p:grpSp>
        <p:nvGrpSpPr>
          <p:cNvPr id="4" name="Group 4"/>
          <p:cNvGrpSpPr/>
          <p:nvPr/>
        </p:nvGrpSpPr>
        <p:grpSpPr>
          <a:xfrm>
            <a:off x="914400" y="7757665"/>
            <a:ext cx="9481099" cy="1000125"/>
            <a:chOff x="0" y="0"/>
            <a:chExt cx="12641466" cy="1333500"/>
          </a:xfrm>
        </p:grpSpPr>
        <p:sp>
          <p:nvSpPr>
            <p:cNvPr id="5" name="Freeform 5"/>
            <p:cNvSpPr/>
            <p:nvPr/>
          </p:nvSpPr>
          <p:spPr>
            <a:xfrm>
              <a:off x="0" y="0"/>
              <a:ext cx="12641453" cy="1333500"/>
            </a:xfrm>
            <a:custGeom>
              <a:avLst/>
              <a:gdLst/>
              <a:ahLst/>
              <a:cxnLst/>
              <a:rect l="l" t="t" r="r" b="b"/>
              <a:pathLst>
                <a:path w="12641453" h="1333500">
                  <a:moveTo>
                    <a:pt x="0" y="76200"/>
                  </a:moveTo>
                  <a:cubicBezTo>
                    <a:pt x="0" y="34163"/>
                    <a:pt x="34163" y="0"/>
                    <a:pt x="76200" y="0"/>
                  </a:cubicBezTo>
                  <a:lnTo>
                    <a:pt x="12565253" y="0"/>
                  </a:lnTo>
                  <a:cubicBezTo>
                    <a:pt x="12607290" y="0"/>
                    <a:pt x="12641453" y="34163"/>
                    <a:pt x="12641453" y="76200"/>
                  </a:cubicBezTo>
                  <a:lnTo>
                    <a:pt x="12641453" y="1257300"/>
                  </a:lnTo>
                  <a:cubicBezTo>
                    <a:pt x="12641453" y="1299337"/>
                    <a:pt x="12607290" y="1333500"/>
                    <a:pt x="12565253" y="1333500"/>
                  </a:cubicBezTo>
                  <a:lnTo>
                    <a:pt x="76200" y="1333500"/>
                  </a:lnTo>
                  <a:cubicBezTo>
                    <a:pt x="34163" y="1333500"/>
                    <a:pt x="0" y="1299337"/>
                    <a:pt x="0" y="1257300"/>
                  </a:cubicBezTo>
                  <a:close/>
                </a:path>
              </a:pathLst>
            </a:custGeom>
            <a:solidFill>
              <a:srgbClr val="F0F9FF"/>
            </a:solidFill>
          </p:spPr>
        </p:sp>
      </p:grpSp>
      <p:grpSp>
        <p:nvGrpSpPr>
          <p:cNvPr id="6" name="Group 6"/>
          <p:cNvGrpSpPr/>
          <p:nvPr/>
        </p:nvGrpSpPr>
        <p:grpSpPr>
          <a:xfrm>
            <a:off x="914400" y="7757665"/>
            <a:ext cx="57150" cy="1000125"/>
            <a:chOff x="0" y="0"/>
            <a:chExt cx="76200" cy="1333500"/>
          </a:xfrm>
        </p:grpSpPr>
        <p:sp>
          <p:nvSpPr>
            <p:cNvPr id="7" name="Freeform 7"/>
            <p:cNvSpPr/>
            <p:nvPr/>
          </p:nvSpPr>
          <p:spPr>
            <a:xfrm>
              <a:off x="0" y="0"/>
              <a:ext cx="76200" cy="1333500"/>
            </a:xfrm>
            <a:custGeom>
              <a:avLst/>
              <a:gdLst/>
              <a:ahLst/>
              <a:cxnLst/>
              <a:rect l="l" t="t" r="r" b="b"/>
              <a:pathLst>
                <a:path w="76200" h="1333500">
                  <a:moveTo>
                    <a:pt x="0" y="0"/>
                  </a:moveTo>
                  <a:lnTo>
                    <a:pt x="76200" y="0"/>
                  </a:lnTo>
                  <a:lnTo>
                    <a:pt x="76200" y="1333500"/>
                  </a:lnTo>
                  <a:lnTo>
                    <a:pt x="0" y="1333500"/>
                  </a:lnTo>
                  <a:close/>
                </a:path>
              </a:pathLst>
            </a:custGeom>
            <a:solidFill>
              <a:srgbClr val="0284C7"/>
            </a:solidFill>
          </p:spPr>
        </p:sp>
      </p:grpSp>
      <p:grpSp>
        <p:nvGrpSpPr>
          <p:cNvPr id="8" name="Group 8"/>
          <p:cNvGrpSpPr/>
          <p:nvPr/>
        </p:nvGrpSpPr>
        <p:grpSpPr>
          <a:xfrm>
            <a:off x="11024149" y="3071812"/>
            <a:ext cx="6349451" cy="5429250"/>
            <a:chOff x="0" y="0"/>
            <a:chExt cx="8465934" cy="7239000"/>
          </a:xfrm>
        </p:grpSpPr>
        <p:sp>
          <p:nvSpPr>
            <p:cNvPr id="9" name="Freeform 9" descr="image.png"/>
            <p:cNvSpPr/>
            <p:nvPr/>
          </p:nvSpPr>
          <p:spPr>
            <a:xfrm>
              <a:off x="0" y="0"/>
              <a:ext cx="8465947" cy="7239000"/>
            </a:xfrm>
            <a:custGeom>
              <a:avLst/>
              <a:gdLst/>
              <a:ahLst/>
              <a:cxnLst/>
              <a:rect l="l" t="t" r="r" b="b"/>
              <a:pathLst>
                <a:path w="8465947" h="7239000">
                  <a:moveTo>
                    <a:pt x="0" y="0"/>
                  </a:moveTo>
                  <a:lnTo>
                    <a:pt x="8465947" y="0"/>
                  </a:lnTo>
                  <a:lnTo>
                    <a:pt x="8465947" y="7239000"/>
                  </a:lnTo>
                  <a:lnTo>
                    <a:pt x="0" y="7239000"/>
                  </a:lnTo>
                  <a:lnTo>
                    <a:pt x="0" y="0"/>
                  </a:lnTo>
                  <a:close/>
                </a:path>
              </a:pathLst>
            </a:custGeom>
            <a:blipFill>
              <a:blip r:embed="rId2"/>
              <a:stretch>
                <a:fillRect l="-66" r="-66"/>
              </a:stretch>
            </a:blipFill>
          </p:spPr>
        </p:sp>
      </p:grpSp>
      <p:grpSp>
        <p:nvGrpSpPr>
          <p:cNvPr id="10" name="Group 10"/>
          <p:cNvGrpSpPr/>
          <p:nvPr/>
        </p:nvGrpSpPr>
        <p:grpSpPr>
          <a:xfrm>
            <a:off x="11038437" y="3086100"/>
            <a:ext cx="6320876" cy="5400675"/>
            <a:chOff x="0" y="0"/>
            <a:chExt cx="8427834" cy="7200900"/>
          </a:xfrm>
        </p:grpSpPr>
        <p:sp>
          <p:nvSpPr>
            <p:cNvPr id="11" name="Freeform 11" descr="image.png"/>
            <p:cNvSpPr/>
            <p:nvPr/>
          </p:nvSpPr>
          <p:spPr>
            <a:xfrm>
              <a:off x="0" y="0"/>
              <a:ext cx="8427847" cy="7200900"/>
            </a:xfrm>
            <a:custGeom>
              <a:avLst/>
              <a:gdLst/>
              <a:ahLst/>
              <a:cxnLst/>
              <a:rect l="l" t="t" r="r" b="b"/>
              <a:pathLst>
                <a:path w="8427847" h="7200900">
                  <a:moveTo>
                    <a:pt x="0" y="0"/>
                  </a:moveTo>
                  <a:lnTo>
                    <a:pt x="8427847" y="0"/>
                  </a:lnTo>
                  <a:lnTo>
                    <a:pt x="8427847" y="7200900"/>
                  </a:lnTo>
                  <a:lnTo>
                    <a:pt x="0" y="7200900"/>
                  </a:lnTo>
                  <a:lnTo>
                    <a:pt x="0" y="0"/>
                  </a:lnTo>
                  <a:close/>
                </a:path>
              </a:pathLst>
            </a:custGeom>
            <a:blipFill>
              <a:blip r:embed="rId3"/>
              <a:stretch>
                <a:fillRect t="-84" b="-84"/>
              </a:stretch>
            </a:blipFill>
          </p:spPr>
        </p:sp>
      </p:grpSp>
      <p:sp>
        <p:nvSpPr>
          <p:cNvPr id="12" name="TextBox 12"/>
          <p:cNvSpPr txBox="1"/>
          <p:nvPr/>
        </p:nvSpPr>
        <p:spPr>
          <a:xfrm>
            <a:off x="914400" y="885825"/>
            <a:ext cx="5325666" cy="628650"/>
          </a:xfrm>
          <a:prstGeom prst="rect">
            <a:avLst/>
          </a:prstGeom>
        </p:spPr>
        <p:txBody>
          <a:bodyPr lIns="0" tIns="0" rIns="0" bIns="0" rtlCol="0" anchor="t">
            <a:spAutoFit/>
          </a:bodyPr>
          <a:lstStyle/>
          <a:p>
            <a:pPr algn="l">
              <a:lnSpc>
                <a:spcPts val="4320"/>
              </a:lnSpc>
            </a:pPr>
            <a:r>
              <a:rPr lang="en-US" sz="3600" b="1">
                <a:solidFill>
                  <a:srgbClr val="0F172A"/>
                </a:solidFill>
                <a:latin typeface="Arimo Bold"/>
                <a:ea typeface="Arimo Bold"/>
                <a:cs typeface="Arimo Bold"/>
                <a:sym typeface="Arimo Bold"/>
              </a:rPr>
              <a:t>PROBLEM STATEMENT</a:t>
            </a:r>
          </a:p>
        </p:txBody>
      </p:sp>
      <p:sp>
        <p:nvSpPr>
          <p:cNvPr id="13" name="TextBox 13"/>
          <p:cNvSpPr txBox="1"/>
          <p:nvPr/>
        </p:nvSpPr>
        <p:spPr>
          <a:xfrm>
            <a:off x="914400" y="2710310"/>
            <a:ext cx="9623974" cy="1853203"/>
          </a:xfrm>
          <a:prstGeom prst="rect">
            <a:avLst/>
          </a:prstGeom>
        </p:spPr>
        <p:txBody>
          <a:bodyPr lIns="0" tIns="0" rIns="0" bIns="0" rtlCol="0" anchor="t">
            <a:spAutoFit/>
          </a:bodyPr>
          <a:lstStyle/>
          <a:p>
            <a:pPr algn="l">
              <a:lnSpc>
                <a:spcPts val="3442"/>
              </a:lnSpc>
            </a:pPr>
            <a:r>
              <a:rPr lang="en-US" sz="2025">
                <a:solidFill>
                  <a:srgbClr val="334155"/>
                </a:solidFill>
                <a:latin typeface="Inter"/>
                <a:ea typeface="Inter"/>
                <a:cs typeface="Inter"/>
                <a:sym typeface="Inter"/>
              </a:rPr>
              <a:t>Healthcare utilization is heavily influenced by variations in individual health conditions, economic status, demographic characteristics, and government healthcare support programs. Consequently, outpatient consultation rates differ markedly across individuals and communities.</a:t>
            </a:r>
          </a:p>
        </p:txBody>
      </p:sp>
      <p:sp>
        <p:nvSpPr>
          <p:cNvPr id="14" name="TextBox 14"/>
          <p:cNvSpPr txBox="1"/>
          <p:nvPr/>
        </p:nvSpPr>
        <p:spPr>
          <a:xfrm>
            <a:off x="914400" y="4715913"/>
            <a:ext cx="9623974" cy="2727427"/>
          </a:xfrm>
          <a:prstGeom prst="rect">
            <a:avLst/>
          </a:prstGeom>
        </p:spPr>
        <p:txBody>
          <a:bodyPr lIns="0" tIns="0" rIns="0" bIns="0" rtlCol="0" anchor="t">
            <a:spAutoFit/>
          </a:bodyPr>
          <a:lstStyle/>
          <a:p>
            <a:pPr algn="l">
              <a:lnSpc>
                <a:spcPts val="3442"/>
              </a:lnSpc>
            </a:pPr>
            <a:r>
              <a:rPr lang="en-US" sz="2025">
                <a:solidFill>
                  <a:srgbClr val="334155"/>
                </a:solidFill>
                <a:latin typeface="Inter"/>
                <a:ea typeface="Inter"/>
                <a:cs typeface="Inter"/>
                <a:sym typeface="Inter"/>
              </a:rPr>
              <a:t>However, raw medical survey data alone does not clearly reveal how consultation patterns change across demographics or what clinical and financial conditions drive hospital visits. The problem is to analyze the 5,190-record healthcare dataset and investigate doctor visitation trends by identifying meaningful patterns, correlations, socioeconomic dependencies, and healthcare access gaps.</a:t>
            </a:r>
          </a:p>
        </p:txBody>
      </p:sp>
      <p:sp>
        <p:nvSpPr>
          <p:cNvPr id="15" name="TextBox 15"/>
          <p:cNvSpPr txBox="1"/>
          <p:nvPr/>
        </p:nvSpPr>
        <p:spPr>
          <a:xfrm>
            <a:off x="1257300" y="7957690"/>
            <a:ext cx="8995324" cy="600075"/>
          </a:xfrm>
          <a:prstGeom prst="rect">
            <a:avLst/>
          </a:prstGeom>
        </p:spPr>
        <p:txBody>
          <a:bodyPr lIns="0" tIns="0" rIns="0" bIns="0" rtlCol="0" anchor="t">
            <a:spAutoFit/>
          </a:bodyPr>
          <a:lstStyle/>
          <a:p>
            <a:pPr algn="l">
              <a:lnSpc>
                <a:spcPts val="2160"/>
              </a:lnSpc>
            </a:pPr>
            <a:r>
              <a:rPr lang="en-US" sz="1800" b="1">
                <a:solidFill>
                  <a:srgbClr val="0369A1"/>
                </a:solidFill>
                <a:latin typeface="Inter Bold"/>
                <a:ea typeface="Inter Bold"/>
                <a:cs typeface="Inter Bold"/>
                <a:sym typeface="Inter Bold"/>
              </a:rPr>
              <a:t>Core Question: What factors most significantly dictate whether a person seeks medical consultation?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 y="1600200"/>
            <a:ext cx="5157788" cy="28575"/>
            <a:chOff x="0" y="0"/>
            <a:chExt cx="6877050" cy="38100"/>
          </a:xfrm>
        </p:grpSpPr>
        <p:sp>
          <p:nvSpPr>
            <p:cNvPr id="3" name="Freeform 3"/>
            <p:cNvSpPr/>
            <p:nvPr/>
          </p:nvSpPr>
          <p:spPr>
            <a:xfrm>
              <a:off x="0" y="0"/>
              <a:ext cx="6877050" cy="38100"/>
            </a:xfrm>
            <a:custGeom>
              <a:avLst/>
              <a:gdLst/>
              <a:ahLst/>
              <a:cxnLst/>
              <a:rect l="l" t="t" r="r" b="b"/>
              <a:pathLst>
                <a:path w="6877050" h="38100">
                  <a:moveTo>
                    <a:pt x="0" y="0"/>
                  </a:moveTo>
                  <a:lnTo>
                    <a:pt x="6877050" y="0"/>
                  </a:lnTo>
                  <a:lnTo>
                    <a:pt x="6877050" y="38100"/>
                  </a:lnTo>
                  <a:lnTo>
                    <a:pt x="0" y="38100"/>
                  </a:lnTo>
                  <a:close/>
                </a:path>
              </a:pathLst>
            </a:custGeom>
            <a:solidFill>
              <a:srgbClr val="0284C7"/>
            </a:solidFill>
          </p:spPr>
        </p:sp>
      </p:grpSp>
      <p:grpSp>
        <p:nvGrpSpPr>
          <p:cNvPr id="4" name="Group 4"/>
          <p:cNvGrpSpPr/>
          <p:nvPr/>
        </p:nvGrpSpPr>
        <p:grpSpPr>
          <a:xfrm>
            <a:off x="907256" y="2893219"/>
            <a:ext cx="16473488" cy="1657350"/>
            <a:chOff x="0" y="0"/>
            <a:chExt cx="21964650" cy="2209800"/>
          </a:xfrm>
        </p:grpSpPr>
        <p:sp>
          <p:nvSpPr>
            <p:cNvPr id="5" name="Freeform 5"/>
            <p:cNvSpPr/>
            <p:nvPr/>
          </p:nvSpPr>
          <p:spPr>
            <a:xfrm>
              <a:off x="0" y="0"/>
              <a:ext cx="21964650" cy="2209800"/>
            </a:xfrm>
            <a:custGeom>
              <a:avLst/>
              <a:gdLst/>
              <a:ahLst/>
              <a:cxnLst/>
              <a:rect l="l" t="t" r="r" b="b"/>
              <a:pathLst>
                <a:path w="21964650" h="2209800">
                  <a:moveTo>
                    <a:pt x="0" y="192151"/>
                  </a:moveTo>
                  <a:cubicBezTo>
                    <a:pt x="0" y="85979"/>
                    <a:pt x="85979" y="0"/>
                    <a:pt x="192151" y="0"/>
                  </a:cubicBezTo>
                  <a:lnTo>
                    <a:pt x="21772499" y="0"/>
                  </a:lnTo>
                  <a:cubicBezTo>
                    <a:pt x="21878671" y="0"/>
                    <a:pt x="21964650" y="85979"/>
                    <a:pt x="21964650" y="192151"/>
                  </a:cubicBezTo>
                  <a:lnTo>
                    <a:pt x="21964650" y="2017649"/>
                  </a:lnTo>
                  <a:cubicBezTo>
                    <a:pt x="21964650" y="2123821"/>
                    <a:pt x="21878671" y="2209800"/>
                    <a:pt x="21772499" y="2209800"/>
                  </a:cubicBezTo>
                  <a:lnTo>
                    <a:pt x="192151" y="2209800"/>
                  </a:lnTo>
                  <a:cubicBezTo>
                    <a:pt x="85979" y="2209800"/>
                    <a:pt x="0" y="2123821"/>
                    <a:pt x="0" y="2017649"/>
                  </a:cubicBezTo>
                  <a:close/>
                </a:path>
              </a:pathLst>
            </a:custGeom>
            <a:solidFill>
              <a:srgbClr val="F8FAFC"/>
            </a:solidFill>
            <a:ln w="14288" cap="sq">
              <a:solidFill>
                <a:srgbClr val="E2E8F0"/>
              </a:solidFill>
              <a:prstDash val="solid"/>
              <a:miter/>
            </a:ln>
          </p:spPr>
        </p:sp>
      </p:grpSp>
      <p:grpSp>
        <p:nvGrpSpPr>
          <p:cNvPr id="6" name="Group 6"/>
          <p:cNvGrpSpPr/>
          <p:nvPr/>
        </p:nvGrpSpPr>
        <p:grpSpPr>
          <a:xfrm>
            <a:off x="907256" y="4793456"/>
            <a:ext cx="16473488" cy="1985962"/>
            <a:chOff x="0" y="0"/>
            <a:chExt cx="21964650" cy="2647950"/>
          </a:xfrm>
        </p:grpSpPr>
        <p:sp>
          <p:nvSpPr>
            <p:cNvPr id="7" name="Freeform 7"/>
            <p:cNvSpPr/>
            <p:nvPr/>
          </p:nvSpPr>
          <p:spPr>
            <a:xfrm>
              <a:off x="0" y="0"/>
              <a:ext cx="21964650" cy="2647950"/>
            </a:xfrm>
            <a:custGeom>
              <a:avLst/>
              <a:gdLst/>
              <a:ahLst/>
              <a:cxnLst/>
              <a:rect l="l" t="t" r="r" b="b"/>
              <a:pathLst>
                <a:path w="21964650" h="2647950">
                  <a:moveTo>
                    <a:pt x="0" y="191897"/>
                  </a:moveTo>
                  <a:cubicBezTo>
                    <a:pt x="0" y="85852"/>
                    <a:pt x="85852" y="0"/>
                    <a:pt x="191897" y="0"/>
                  </a:cubicBezTo>
                  <a:lnTo>
                    <a:pt x="21772753" y="0"/>
                  </a:lnTo>
                  <a:cubicBezTo>
                    <a:pt x="21878671" y="0"/>
                    <a:pt x="21964650" y="85852"/>
                    <a:pt x="21964650" y="191897"/>
                  </a:cubicBezTo>
                  <a:lnTo>
                    <a:pt x="21964650" y="2456053"/>
                  </a:lnTo>
                  <a:cubicBezTo>
                    <a:pt x="21964650" y="2561971"/>
                    <a:pt x="21878798" y="2647950"/>
                    <a:pt x="21772753" y="2647950"/>
                  </a:cubicBezTo>
                  <a:lnTo>
                    <a:pt x="191897" y="2647950"/>
                  </a:lnTo>
                  <a:cubicBezTo>
                    <a:pt x="85852" y="2647950"/>
                    <a:pt x="0" y="2562098"/>
                    <a:pt x="0" y="2456053"/>
                  </a:cubicBezTo>
                  <a:close/>
                </a:path>
              </a:pathLst>
            </a:custGeom>
            <a:solidFill>
              <a:srgbClr val="F8FAFC"/>
            </a:solidFill>
            <a:ln w="14288" cap="sq">
              <a:solidFill>
                <a:srgbClr val="E2E8F0"/>
              </a:solidFill>
              <a:prstDash val="solid"/>
              <a:miter/>
            </a:ln>
          </p:spPr>
        </p:sp>
      </p:grpSp>
      <p:grpSp>
        <p:nvGrpSpPr>
          <p:cNvPr id="8" name="Group 8"/>
          <p:cNvGrpSpPr/>
          <p:nvPr/>
        </p:nvGrpSpPr>
        <p:grpSpPr>
          <a:xfrm>
            <a:off x="907256" y="7022306"/>
            <a:ext cx="16473488" cy="1657350"/>
            <a:chOff x="0" y="0"/>
            <a:chExt cx="21964650" cy="2209800"/>
          </a:xfrm>
        </p:grpSpPr>
        <p:sp>
          <p:nvSpPr>
            <p:cNvPr id="9" name="Freeform 9"/>
            <p:cNvSpPr/>
            <p:nvPr/>
          </p:nvSpPr>
          <p:spPr>
            <a:xfrm>
              <a:off x="0" y="0"/>
              <a:ext cx="21964650" cy="2209800"/>
            </a:xfrm>
            <a:custGeom>
              <a:avLst/>
              <a:gdLst/>
              <a:ahLst/>
              <a:cxnLst/>
              <a:rect l="l" t="t" r="r" b="b"/>
              <a:pathLst>
                <a:path w="21964650" h="2209800">
                  <a:moveTo>
                    <a:pt x="0" y="192151"/>
                  </a:moveTo>
                  <a:cubicBezTo>
                    <a:pt x="0" y="85979"/>
                    <a:pt x="85979" y="0"/>
                    <a:pt x="192151" y="0"/>
                  </a:cubicBezTo>
                  <a:lnTo>
                    <a:pt x="21772499" y="0"/>
                  </a:lnTo>
                  <a:cubicBezTo>
                    <a:pt x="21878671" y="0"/>
                    <a:pt x="21964650" y="85979"/>
                    <a:pt x="21964650" y="192151"/>
                  </a:cubicBezTo>
                  <a:lnTo>
                    <a:pt x="21964650" y="2017649"/>
                  </a:lnTo>
                  <a:cubicBezTo>
                    <a:pt x="21964650" y="2123821"/>
                    <a:pt x="21878671" y="2209800"/>
                    <a:pt x="21772499" y="2209800"/>
                  </a:cubicBezTo>
                  <a:lnTo>
                    <a:pt x="192151" y="2209800"/>
                  </a:lnTo>
                  <a:cubicBezTo>
                    <a:pt x="85979" y="2209800"/>
                    <a:pt x="0" y="2123821"/>
                    <a:pt x="0" y="2017649"/>
                  </a:cubicBezTo>
                  <a:close/>
                </a:path>
              </a:pathLst>
            </a:custGeom>
            <a:solidFill>
              <a:srgbClr val="F8FAFC"/>
            </a:solidFill>
            <a:ln w="14288" cap="sq">
              <a:solidFill>
                <a:srgbClr val="E2E8F0"/>
              </a:solidFill>
              <a:prstDash val="solid"/>
              <a:miter/>
            </a:ln>
          </p:spPr>
        </p:sp>
      </p:grpSp>
      <p:sp>
        <p:nvSpPr>
          <p:cNvPr id="10" name="TextBox 10"/>
          <p:cNvSpPr txBox="1"/>
          <p:nvPr/>
        </p:nvSpPr>
        <p:spPr>
          <a:xfrm>
            <a:off x="914400" y="885825"/>
            <a:ext cx="5565696" cy="628650"/>
          </a:xfrm>
          <a:prstGeom prst="rect">
            <a:avLst/>
          </a:prstGeom>
        </p:spPr>
        <p:txBody>
          <a:bodyPr lIns="0" tIns="0" rIns="0" bIns="0" rtlCol="0" anchor="t">
            <a:spAutoFit/>
          </a:bodyPr>
          <a:lstStyle/>
          <a:p>
            <a:pPr algn="l">
              <a:lnSpc>
                <a:spcPts val="4320"/>
              </a:lnSpc>
            </a:pPr>
            <a:r>
              <a:rPr lang="en-US" sz="3600" b="1">
                <a:solidFill>
                  <a:srgbClr val="0F172A"/>
                </a:solidFill>
                <a:latin typeface="Arimo Bold"/>
                <a:ea typeface="Arimo Bold"/>
                <a:cs typeface="Arimo Bold"/>
                <a:sym typeface="Arimo Bold"/>
              </a:rPr>
              <a:t>PROJECT DESCRIPTION</a:t>
            </a:r>
          </a:p>
        </p:txBody>
      </p:sp>
      <p:sp>
        <p:nvSpPr>
          <p:cNvPr id="11" name="TextBox 11"/>
          <p:cNvSpPr txBox="1"/>
          <p:nvPr/>
        </p:nvSpPr>
        <p:spPr>
          <a:xfrm>
            <a:off x="1271588" y="3162300"/>
            <a:ext cx="17016412" cy="338137"/>
          </a:xfrm>
          <a:prstGeom prst="rect">
            <a:avLst/>
          </a:prstGeom>
        </p:spPr>
        <p:txBody>
          <a:bodyPr lIns="0" tIns="0" rIns="0" bIns="0" rtlCol="0" anchor="t">
            <a:spAutoFit/>
          </a:bodyPr>
          <a:lstStyle/>
          <a:p>
            <a:pPr algn="l">
              <a:lnSpc>
                <a:spcPts val="2430"/>
              </a:lnSpc>
            </a:pPr>
            <a:r>
              <a:rPr lang="en-US" sz="2025" b="1">
                <a:solidFill>
                  <a:srgbClr val="0284C7"/>
                </a:solidFill>
                <a:latin typeface="Arimo Bold"/>
                <a:ea typeface="Arimo Bold"/>
                <a:cs typeface="Arimo Bold"/>
                <a:sym typeface="Arimo Bold"/>
              </a:rPr>
              <a:t>Empirical Healthcare Utilization Study:</a:t>
            </a:r>
          </a:p>
        </p:txBody>
      </p:sp>
      <p:sp>
        <p:nvSpPr>
          <p:cNvPr id="12" name="TextBox 12"/>
          <p:cNvSpPr txBox="1"/>
          <p:nvPr/>
        </p:nvSpPr>
        <p:spPr>
          <a:xfrm>
            <a:off x="1271588" y="3529012"/>
            <a:ext cx="15887700" cy="742950"/>
          </a:xfrm>
          <a:prstGeom prst="rect">
            <a:avLst/>
          </a:prstGeom>
        </p:spPr>
        <p:txBody>
          <a:bodyPr lIns="0" tIns="0" rIns="0" bIns="0" rtlCol="0" anchor="t">
            <a:spAutoFit/>
          </a:bodyPr>
          <a:lstStyle/>
          <a:p>
            <a:pPr algn="l">
              <a:lnSpc>
                <a:spcPts val="2700"/>
              </a:lnSpc>
            </a:pPr>
            <a:r>
              <a:rPr lang="en-US" sz="1800">
                <a:solidFill>
                  <a:srgbClr val="334155"/>
                </a:solidFill>
                <a:latin typeface="Inter"/>
                <a:ea typeface="Inter"/>
                <a:cs typeface="Inter"/>
                <a:sym typeface="Inter"/>
              </a:rPr>
              <a:t>A rigorous data-driven study of 5,190 patient entries across 12 analytical features examining demographic factors, clinical impairments, and medical insurance coverage.</a:t>
            </a:r>
          </a:p>
        </p:txBody>
      </p:sp>
      <p:sp>
        <p:nvSpPr>
          <p:cNvPr id="13" name="TextBox 13"/>
          <p:cNvSpPr txBox="1"/>
          <p:nvPr/>
        </p:nvSpPr>
        <p:spPr>
          <a:xfrm>
            <a:off x="1271588" y="5062537"/>
            <a:ext cx="17016412" cy="338137"/>
          </a:xfrm>
          <a:prstGeom prst="rect">
            <a:avLst/>
          </a:prstGeom>
        </p:spPr>
        <p:txBody>
          <a:bodyPr lIns="0" tIns="0" rIns="0" bIns="0" rtlCol="0" anchor="t">
            <a:spAutoFit/>
          </a:bodyPr>
          <a:lstStyle/>
          <a:p>
            <a:pPr algn="l">
              <a:lnSpc>
                <a:spcPts val="2430"/>
              </a:lnSpc>
            </a:pPr>
            <a:r>
              <a:rPr lang="en-US" sz="2025" b="1">
                <a:solidFill>
                  <a:srgbClr val="0284C7"/>
                </a:solidFill>
                <a:latin typeface="Arimo Bold"/>
                <a:ea typeface="Arimo Bold"/>
                <a:cs typeface="Arimo Bold"/>
                <a:sym typeface="Arimo Bold"/>
              </a:rPr>
              <a:t>Core Focus Areas:</a:t>
            </a:r>
          </a:p>
        </p:txBody>
      </p:sp>
      <p:sp>
        <p:nvSpPr>
          <p:cNvPr id="14" name="TextBox 14"/>
          <p:cNvSpPr txBox="1"/>
          <p:nvPr/>
        </p:nvSpPr>
        <p:spPr>
          <a:xfrm>
            <a:off x="1271588" y="7291387"/>
            <a:ext cx="17016412" cy="338137"/>
          </a:xfrm>
          <a:prstGeom prst="rect">
            <a:avLst/>
          </a:prstGeom>
        </p:spPr>
        <p:txBody>
          <a:bodyPr lIns="0" tIns="0" rIns="0" bIns="0" rtlCol="0" anchor="t">
            <a:spAutoFit/>
          </a:bodyPr>
          <a:lstStyle/>
          <a:p>
            <a:pPr algn="l">
              <a:lnSpc>
                <a:spcPts val="2430"/>
              </a:lnSpc>
            </a:pPr>
            <a:r>
              <a:rPr lang="en-US" sz="2025" b="1">
                <a:solidFill>
                  <a:srgbClr val="0284C7"/>
                </a:solidFill>
                <a:latin typeface="Arimo Bold"/>
                <a:ea typeface="Arimo Bold"/>
                <a:cs typeface="Arimo Bold"/>
                <a:sym typeface="Arimo Bold"/>
              </a:rPr>
              <a:t>Methodology:</a:t>
            </a:r>
          </a:p>
        </p:txBody>
      </p:sp>
      <p:sp>
        <p:nvSpPr>
          <p:cNvPr id="15" name="TextBox 15"/>
          <p:cNvSpPr txBox="1"/>
          <p:nvPr/>
        </p:nvSpPr>
        <p:spPr>
          <a:xfrm>
            <a:off x="1271588" y="7658100"/>
            <a:ext cx="15887700" cy="742950"/>
          </a:xfrm>
          <a:prstGeom prst="rect">
            <a:avLst/>
          </a:prstGeom>
        </p:spPr>
        <p:txBody>
          <a:bodyPr lIns="0" tIns="0" rIns="0" bIns="0" rtlCol="0" anchor="t">
            <a:spAutoFit/>
          </a:bodyPr>
          <a:lstStyle/>
          <a:p>
            <a:pPr algn="l">
              <a:lnSpc>
                <a:spcPts val="2700"/>
              </a:lnSpc>
            </a:pPr>
            <a:r>
              <a:rPr lang="en-US" sz="1800">
                <a:solidFill>
                  <a:srgbClr val="334155"/>
                </a:solidFill>
                <a:latin typeface="Inter"/>
                <a:ea typeface="Inter"/>
                <a:cs typeface="Inter"/>
                <a:sym typeface="Inter"/>
              </a:rPr>
              <a:t>End-to-end exploratory data analysis in Python on Google Colab covering data hygiene, zero-inflation quantification, bivariate cross-tabulation, and feature correlation matrix profiling.</a:t>
            </a:r>
          </a:p>
        </p:txBody>
      </p:sp>
      <p:sp>
        <p:nvSpPr>
          <p:cNvPr id="16" name="TextBox 16"/>
          <p:cNvSpPr txBox="1"/>
          <p:nvPr/>
        </p:nvSpPr>
        <p:spPr>
          <a:xfrm>
            <a:off x="1271588" y="5514975"/>
            <a:ext cx="17016412" cy="271462"/>
          </a:xfrm>
          <a:prstGeom prst="rect">
            <a:avLst/>
          </a:prstGeom>
        </p:spPr>
        <p:txBody>
          <a:bodyPr lIns="0" tIns="0" rIns="0" bIns="0" rtlCol="0" anchor="t">
            <a:spAutoFit/>
          </a:bodyPr>
          <a:lstStyle/>
          <a:p>
            <a:pPr algn="l">
              <a:lnSpc>
                <a:spcPts val="2025"/>
              </a:lnSpc>
            </a:pPr>
            <a:r>
              <a:rPr lang="en-US" sz="1687" b="1">
                <a:solidFill>
                  <a:srgbClr val="0F172A"/>
                </a:solidFill>
                <a:latin typeface="Inter Bold"/>
                <a:ea typeface="Inter Bold"/>
                <a:cs typeface="Inter Bold"/>
                <a:sym typeface="Inter Bold"/>
              </a:rPr>
              <a:t>Clinical Morbidity:</a:t>
            </a:r>
            <a:r>
              <a:rPr lang="en-US" sz="1687">
                <a:solidFill>
                  <a:srgbClr val="334155"/>
                </a:solidFill>
                <a:latin typeface="Inter"/>
                <a:ea typeface="Inter"/>
                <a:cs typeface="Inter"/>
                <a:sym typeface="Inter"/>
              </a:rPr>
              <a:t> Correlation between acute illnesses, restricted activity days, and consultation frequency.</a:t>
            </a:r>
          </a:p>
        </p:txBody>
      </p:sp>
      <p:sp>
        <p:nvSpPr>
          <p:cNvPr id="17" name="TextBox 17"/>
          <p:cNvSpPr txBox="1"/>
          <p:nvPr/>
        </p:nvSpPr>
        <p:spPr>
          <a:xfrm>
            <a:off x="1271588" y="5872162"/>
            <a:ext cx="17016412" cy="271462"/>
          </a:xfrm>
          <a:prstGeom prst="rect">
            <a:avLst/>
          </a:prstGeom>
        </p:spPr>
        <p:txBody>
          <a:bodyPr lIns="0" tIns="0" rIns="0" bIns="0" rtlCol="0" anchor="t">
            <a:spAutoFit/>
          </a:bodyPr>
          <a:lstStyle/>
          <a:p>
            <a:pPr algn="l">
              <a:lnSpc>
                <a:spcPts val="2025"/>
              </a:lnSpc>
            </a:pPr>
            <a:r>
              <a:rPr lang="en-US" sz="1687" b="1">
                <a:solidFill>
                  <a:srgbClr val="0F172A"/>
                </a:solidFill>
                <a:latin typeface="Inter Bold"/>
                <a:ea typeface="Inter Bold"/>
                <a:cs typeface="Inter Bold"/>
                <a:sym typeface="Inter Bold"/>
              </a:rPr>
              <a:t>Socioeconomic Access:</a:t>
            </a:r>
            <a:r>
              <a:rPr lang="en-US" sz="1687">
                <a:solidFill>
                  <a:srgbClr val="334155"/>
                </a:solidFill>
                <a:latin typeface="Inter"/>
                <a:ea typeface="Inter"/>
                <a:cs typeface="Inter"/>
                <a:sym typeface="Inter"/>
              </a:rPr>
              <a:t> Impact of household income levels and private healthcare insurance on consultation volume.</a:t>
            </a:r>
          </a:p>
        </p:txBody>
      </p:sp>
      <p:sp>
        <p:nvSpPr>
          <p:cNvPr id="18" name="TextBox 18"/>
          <p:cNvSpPr txBox="1"/>
          <p:nvPr/>
        </p:nvSpPr>
        <p:spPr>
          <a:xfrm>
            <a:off x="1271588" y="6229350"/>
            <a:ext cx="17016412" cy="271462"/>
          </a:xfrm>
          <a:prstGeom prst="rect">
            <a:avLst/>
          </a:prstGeom>
        </p:spPr>
        <p:txBody>
          <a:bodyPr lIns="0" tIns="0" rIns="0" bIns="0" rtlCol="0" anchor="t">
            <a:spAutoFit/>
          </a:bodyPr>
          <a:lstStyle/>
          <a:p>
            <a:pPr algn="l">
              <a:lnSpc>
                <a:spcPts val="2025"/>
              </a:lnSpc>
            </a:pPr>
            <a:r>
              <a:rPr lang="en-US" sz="1687" b="1">
                <a:solidFill>
                  <a:srgbClr val="0F172A"/>
                </a:solidFill>
                <a:latin typeface="Inter Bold"/>
                <a:ea typeface="Inter Bold"/>
                <a:cs typeface="Inter Bold"/>
                <a:sym typeface="Inter Bold"/>
              </a:rPr>
              <a:t>Welfare Safety Nets:</a:t>
            </a:r>
            <a:r>
              <a:rPr lang="en-US" sz="1687">
                <a:solidFill>
                  <a:srgbClr val="334155"/>
                </a:solidFill>
                <a:latin typeface="Inter"/>
                <a:ea typeface="Inter"/>
                <a:cs typeface="Inter"/>
                <a:sym typeface="Inter"/>
              </a:rPr>
              <a:t> Utilization rates among vulnerable populations enrolled in government poverty and repatriation relief programs.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 y="1600200"/>
            <a:ext cx="5972175" cy="28575"/>
            <a:chOff x="0" y="0"/>
            <a:chExt cx="7962900" cy="38100"/>
          </a:xfrm>
        </p:grpSpPr>
        <p:sp>
          <p:nvSpPr>
            <p:cNvPr id="3" name="Freeform 3"/>
            <p:cNvSpPr/>
            <p:nvPr/>
          </p:nvSpPr>
          <p:spPr>
            <a:xfrm>
              <a:off x="0" y="0"/>
              <a:ext cx="7962900" cy="38100"/>
            </a:xfrm>
            <a:custGeom>
              <a:avLst/>
              <a:gdLst/>
              <a:ahLst/>
              <a:cxnLst/>
              <a:rect l="l" t="t" r="r" b="b"/>
              <a:pathLst>
                <a:path w="7962900" h="38100">
                  <a:moveTo>
                    <a:pt x="0" y="0"/>
                  </a:moveTo>
                  <a:lnTo>
                    <a:pt x="7962900" y="0"/>
                  </a:lnTo>
                  <a:lnTo>
                    <a:pt x="7962900" y="38100"/>
                  </a:lnTo>
                  <a:lnTo>
                    <a:pt x="0" y="38100"/>
                  </a:lnTo>
                  <a:close/>
                </a:path>
              </a:pathLst>
            </a:custGeom>
            <a:solidFill>
              <a:srgbClr val="0284C7"/>
            </a:solidFill>
          </p:spPr>
        </p:sp>
      </p:grpSp>
      <p:grpSp>
        <p:nvGrpSpPr>
          <p:cNvPr id="4" name="Group 4"/>
          <p:cNvGrpSpPr/>
          <p:nvPr/>
        </p:nvGrpSpPr>
        <p:grpSpPr>
          <a:xfrm>
            <a:off x="914400" y="3100388"/>
            <a:ext cx="16459200" cy="1171575"/>
            <a:chOff x="0" y="0"/>
            <a:chExt cx="21945600" cy="1562100"/>
          </a:xfrm>
        </p:grpSpPr>
        <p:sp>
          <p:nvSpPr>
            <p:cNvPr id="5" name="Freeform 5"/>
            <p:cNvSpPr/>
            <p:nvPr/>
          </p:nvSpPr>
          <p:spPr>
            <a:xfrm>
              <a:off x="0" y="0"/>
              <a:ext cx="21945600" cy="1562100"/>
            </a:xfrm>
            <a:custGeom>
              <a:avLst/>
              <a:gdLst/>
              <a:ahLst/>
              <a:cxnLst/>
              <a:rect l="l" t="t" r="r" b="b"/>
              <a:pathLst>
                <a:path w="21945600" h="1562100">
                  <a:moveTo>
                    <a:pt x="0" y="190500"/>
                  </a:moveTo>
                  <a:cubicBezTo>
                    <a:pt x="0" y="85344"/>
                    <a:pt x="85344" y="0"/>
                    <a:pt x="190500" y="0"/>
                  </a:cubicBezTo>
                  <a:lnTo>
                    <a:pt x="21755100" y="0"/>
                  </a:lnTo>
                  <a:cubicBezTo>
                    <a:pt x="21860256" y="0"/>
                    <a:pt x="21945600" y="85344"/>
                    <a:pt x="21945600" y="190500"/>
                  </a:cubicBezTo>
                  <a:lnTo>
                    <a:pt x="21945600" y="1371600"/>
                  </a:lnTo>
                  <a:cubicBezTo>
                    <a:pt x="21945600" y="1476756"/>
                    <a:pt x="21860256" y="1562100"/>
                    <a:pt x="21755100" y="1562100"/>
                  </a:cubicBezTo>
                  <a:lnTo>
                    <a:pt x="190500" y="1562100"/>
                  </a:lnTo>
                  <a:cubicBezTo>
                    <a:pt x="85344" y="1562100"/>
                    <a:pt x="0" y="1476756"/>
                    <a:pt x="0" y="1371600"/>
                  </a:cubicBezTo>
                  <a:close/>
                </a:path>
              </a:pathLst>
            </a:custGeom>
            <a:solidFill>
              <a:srgbClr val="FFFFFF"/>
            </a:solidFill>
          </p:spPr>
        </p:sp>
      </p:grpSp>
      <p:grpSp>
        <p:nvGrpSpPr>
          <p:cNvPr id="6" name="Group 6"/>
          <p:cNvGrpSpPr/>
          <p:nvPr/>
        </p:nvGrpSpPr>
        <p:grpSpPr>
          <a:xfrm>
            <a:off x="914400" y="4500562"/>
            <a:ext cx="16459200" cy="1171575"/>
            <a:chOff x="0" y="0"/>
            <a:chExt cx="21945600" cy="1562100"/>
          </a:xfrm>
        </p:grpSpPr>
        <p:sp>
          <p:nvSpPr>
            <p:cNvPr id="7" name="Freeform 7"/>
            <p:cNvSpPr/>
            <p:nvPr/>
          </p:nvSpPr>
          <p:spPr>
            <a:xfrm>
              <a:off x="0" y="0"/>
              <a:ext cx="21945600" cy="1562100"/>
            </a:xfrm>
            <a:custGeom>
              <a:avLst/>
              <a:gdLst/>
              <a:ahLst/>
              <a:cxnLst/>
              <a:rect l="l" t="t" r="r" b="b"/>
              <a:pathLst>
                <a:path w="21945600" h="1562100">
                  <a:moveTo>
                    <a:pt x="0" y="190500"/>
                  </a:moveTo>
                  <a:cubicBezTo>
                    <a:pt x="0" y="85344"/>
                    <a:pt x="85344" y="0"/>
                    <a:pt x="190500" y="0"/>
                  </a:cubicBezTo>
                  <a:lnTo>
                    <a:pt x="21755100" y="0"/>
                  </a:lnTo>
                  <a:cubicBezTo>
                    <a:pt x="21860256" y="0"/>
                    <a:pt x="21945600" y="85344"/>
                    <a:pt x="21945600" y="190500"/>
                  </a:cubicBezTo>
                  <a:lnTo>
                    <a:pt x="21945600" y="1371600"/>
                  </a:lnTo>
                  <a:cubicBezTo>
                    <a:pt x="21945600" y="1476756"/>
                    <a:pt x="21860256" y="1562100"/>
                    <a:pt x="21755100" y="1562100"/>
                  </a:cubicBezTo>
                  <a:lnTo>
                    <a:pt x="190500" y="1562100"/>
                  </a:lnTo>
                  <a:cubicBezTo>
                    <a:pt x="85344" y="1562100"/>
                    <a:pt x="0" y="1476756"/>
                    <a:pt x="0" y="1371600"/>
                  </a:cubicBezTo>
                  <a:close/>
                </a:path>
              </a:pathLst>
            </a:custGeom>
            <a:solidFill>
              <a:srgbClr val="FFFFFF"/>
            </a:solidFill>
          </p:spPr>
        </p:sp>
      </p:grpSp>
      <p:grpSp>
        <p:nvGrpSpPr>
          <p:cNvPr id="8" name="Group 8"/>
          <p:cNvGrpSpPr/>
          <p:nvPr/>
        </p:nvGrpSpPr>
        <p:grpSpPr>
          <a:xfrm>
            <a:off x="914400" y="5900738"/>
            <a:ext cx="16459200" cy="1171575"/>
            <a:chOff x="0" y="0"/>
            <a:chExt cx="21945600" cy="1562100"/>
          </a:xfrm>
        </p:grpSpPr>
        <p:sp>
          <p:nvSpPr>
            <p:cNvPr id="9" name="Freeform 9"/>
            <p:cNvSpPr/>
            <p:nvPr/>
          </p:nvSpPr>
          <p:spPr>
            <a:xfrm>
              <a:off x="0" y="0"/>
              <a:ext cx="21945600" cy="1562100"/>
            </a:xfrm>
            <a:custGeom>
              <a:avLst/>
              <a:gdLst/>
              <a:ahLst/>
              <a:cxnLst/>
              <a:rect l="l" t="t" r="r" b="b"/>
              <a:pathLst>
                <a:path w="21945600" h="1562100">
                  <a:moveTo>
                    <a:pt x="0" y="190500"/>
                  </a:moveTo>
                  <a:cubicBezTo>
                    <a:pt x="0" y="85344"/>
                    <a:pt x="85344" y="0"/>
                    <a:pt x="190500" y="0"/>
                  </a:cubicBezTo>
                  <a:lnTo>
                    <a:pt x="21755100" y="0"/>
                  </a:lnTo>
                  <a:cubicBezTo>
                    <a:pt x="21860256" y="0"/>
                    <a:pt x="21945600" y="85344"/>
                    <a:pt x="21945600" y="190500"/>
                  </a:cubicBezTo>
                  <a:lnTo>
                    <a:pt x="21945600" y="1371600"/>
                  </a:lnTo>
                  <a:cubicBezTo>
                    <a:pt x="21945600" y="1476756"/>
                    <a:pt x="21860256" y="1562100"/>
                    <a:pt x="21755100" y="1562100"/>
                  </a:cubicBezTo>
                  <a:lnTo>
                    <a:pt x="190500" y="1562100"/>
                  </a:lnTo>
                  <a:cubicBezTo>
                    <a:pt x="85344" y="1562100"/>
                    <a:pt x="0" y="1476756"/>
                    <a:pt x="0" y="1371600"/>
                  </a:cubicBezTo>
                  <a:close/>
                </a:path>
              </a:pathLst>
            </a:custGeom>
            <a:solidFill>
              <a:srgbClr val="FFFFFF"/>
            </a:solidFill>
          </p:spPr>
        </p:sp>
      </p:grpSp>
      <p:grpSp>
        <p:nvGrpSpPr>
          <p:cNvPr id="10" name="Group 10"/>
          <p:cNvGrpSpPr/>
          <p:nvPr/>
        </p:nvGrpSpPr>
        <p:grpSpPr>
          <a:xfrm>
            <a:off x="914400" y="7300912"/>
            <a:ext cx="16459200" cy="1171575"/>
            <a:chOff x="0" y="0"/>
            <a:chExt cx="21945600" cy="1562100"/>
          </a:xfrm>
        </p:grpSpPr>
        <p:sp>
          <p:nvSpPr>
            <p:cNvPr id="11" name="Freeform 11"/>
            <p:cNvSpPr/>
            <p:nvPr/>
          </p:nvSpPr>
          <p:spPr>
            <a:xfrm>
              <a:off x="0" y="0"/>
              <a:ext cx="21945600" cy="1562100"/>
            </a:xfrm>
            <a:custGeom>
              <a:avLst/>
              <a:gdLst/>
              <a:ahLst/>
              <a:cxnLst/>
              <a:rect l="l" t="t" r="r" b="b"/>
              <a:pathLst>
                <a:path w="21945600" h="1562100">
                  <a:moveTo>
                    <a:pt x="0" y="190500"/>
                  </a:moveTo>
                  <a:cubicBezTo>
                    <a:pt x="0" y="85344"/>
                    <a:pt x="85344" y="0"/>
                    <a:pt x="190500" y="0"/>
                  </a:cubicBezTo>
                  <a:lnTo>
                    <a:pt x="21755100" y="0"/>
                  </a:lnTo>
                  <a:cubicBezTo>
                    <a:pt x="21860256" y="0"/>
                    <a:pt x="21945600" y="85344"/>
                    <a:pt x="21945600" y="190500"/>
                  </a:cubicBezTo>
                  <a:lnTo>
                    <a:pt x="21945600" y="1371600"/>
                  </a:lnTo>
                  <a:cubicBezTo>
                    <a:pt x="21945600" y="1476756"/>
                    <a:pt x="21860256" y="1562100"/>
                    <a:pt x="21755100" y="1562100"/>
                  </a:cubicBezTo>
                  <a:lnTo>
                    <a:pt x="190500" y="1562100"/>
                  </a:lnTo>
                  <a:cubicBezTo>
                    <a:pt x="85344" y="1562100"/>
                    <a:pt x="0" y="1476756"/>
                    <a:pt x="0" y="1371600"/>
                  </a:cubicBezTo>
                  <a:close/>
                </a:path>
              </a:pathLst>
            </a:custGeom>
            <a:solidFill>
              <a:srgbClr val="FFFFFF"/>
            </a:solidFill>
          </p:spPr>
        </p:sp>
      </p:grpSp>
      <p:grpSp>
        <p:nvGrpSpPr>
          <p:cNvPr id="12" name="Group 12"/>
          <p:cNvGrpSpPr/>
          <p:nvPr/>
        </p:nvGrpSpPr>
        <p:grpSpPr>
          <a:xfrm>
            <a:off x="914400" y="4257675"/>
            <a:ext cx="16459200" cy="14288"/>
            <a:chOff x="0" y="0"/>
            <a:chExt cx="21945600" cy="19050"/>
          </a:xfrm>
        </p:grpSpPr>
        <p:sp>
          <p:nvSpPr>
            <p:cNvPr id="13" name="Freeform 13"/>
            <p:cNvSpPr/>
            <p:nvPr/>
          </p:nvSpPr>
          <p:spPr>
            <a:xfrm>
              <a:off x="0" y="0"/>
              <a:ext cx="21945600" cy="19050"/>
            </a:xfrm>
            <a:custGeom>
              <a:avLst/>
              <a:gdLst/>
              <a:ahLst/>
              <a:cxnLst/>
              <a:rect l="l" t="t" r="r" b="b"/>
              <a:pathLst>
                <a:path w="21945600" h="19050">
                  <a:moveTo>
                    <a:pt x="0" y="0"/>
                  </a:moveTo>
                  <a:lnTo>
                    <a:pt x="21945600" y="0"/>
                  </a:lnTo>
                  <a:lnTo>
                    <a:pt x="21945600" y="19050"/>
                  </a:lnTo>
                  <a:lnTo>
                    <a:pt x="0" y="19050"/>
                  </a:lnTo>
                  <a:close/>
                </a:path>
              </a:pathLst>
            </a:custGeom>
            <a:solidFill>
              <a:srgbClr val="E2E8F0"/>
            </a:solidFill>
          </p:spPr>
        </p:sp>
      </p:grpSp>
      <p:grpSp>
        <p:nvGrpSpPr>
          <p:cNvPr id="14" name="Group 14"/>
          <p:cNvGrpSpPr/>
          <p:nvPr/>
        </p:nvGrpSpPr>
        <p:grpSpPr>
          <a:xfrm>
            <a:off x="914400" y="3100388"/>
            <a:ext cx="16459200" cy="14288"/>
            <a:chOff x="0" y="0"/>
            <a:chExt cx="21945600" cy="19050"/>
          </a:xfrm>
        </p:grpSpPr>
        <p:sp>
          <p:nvSpPr>
            <p:cNvPr id="15" name="Freeform 15"/>
            <p:cNvSpPr/>
            <p:nvPr/>
          </p:nvSpPr>
          <p:spPr>
            <a:xfrm>
              <a:off x="0" y="0"/>
              <a:ext cx="21945600" cy="19050"/>
            </a:xfrm>
            <a:custGeom>
              <a:avLst/>
              <a:gdLst/>
              <a:ahLst/>
              <a:cxnLst/>
              <a:rect l="l" t="t" r="r" b="b"/>
              <a:pathLst>
                <a:path w="21945600" h="19050">
                  <a:moveTo>
                    <a:pt x="0" y="0"/>
                  </a:moveTo>
                  <a:lnTo>
                    <a:pt x="21945600" y="0"/>
                  </a:lnTo>
                  <a:lnTo>
                    <a:pt x="21945600" y="19050"/>
                  </a:lnTo>
                  <a:lnTo>
                    <a:pt x="0" y="19050"/>
                  </a:lnTo>
                  <a:close/>
                </a:path>
              </a:pathLst>
            </a:custGeom>
            <a:solidFill>
              <a:srgbClr val="E2E8F0"/>
            </a:solidFill>
          </p:spPr>
        </p:sp>
      </p:grpSp>
      <p:grpSp>
        <p:nvGrpSpPr>
          <p:cNvPr id="16" name="Group 16"/>
          <p:cNvGrpSpPr/>
          <p:nvPr/>
        </p:nvGrpSpPr>
        <p:grpSpPr>
          <a:xfrm>
            <a:off x="914400" y="3100388"/>
            <a:ext cx="71438" cy="1171575"/>
            <a:chOff x="0" y="0"/>
            <a:chExt cx="95250" cy="1562100"/>
          </a:xfrm>
        </p:grpSpPr>
        <p:sp>
          <p:nvSpPr>
            <p:cNvPr id="17" name="Freeform 17"/>
            <p:cNvSpPr/>
            <p:nvPr/>
          </p:nvSpPr>
          <p:spPr>
            <a:xfrm>
              <a:off x="0" y="0"/>
              <a:ext cx="95250" cy="1562100"/>
            </a:xfrm>
            <a:custGeom>
              <a:avLst/>
              <a:gdLst/>
              <a:ahLst/>
              <a:cxnLst/>
              <a:rect l="l" t="t" r="r" b="b"/>
              <a:pathLst>
                <a:path w="95250" h="1562100">
                  <a:moveTo>
                    <a:pt x="0" y="0"/>
                  </a:moveTo>
                  <a:lnTo>
                    <a:pt x="95250" y="0"/>
                  </a:lnTo>
                  <a:lnTo>
                    <a:pt x="95250" y="1562100"/>
                  </a:lnTo>
                  <a:lnTo>
                    <a:pt x="0" y="1562100"/>
                  </a:lnTo>
                  <a:close/>
                </a:path>
              </a:pathLst>
            </a:custGeom>
            <a:solidFill>
              <a:srgbClr val="0284C7"/>
            </a:solidFill>
          </p:spPr>
        </p:sp>
      </p:grpSp>
      <p:grpSp>
        <p:nvGrpSpPr>
          <p:cNvPr id="18" name="Group 18"/>
          <p:cNvGrpSpPr/>
          <p:nvPr/>
        </p:nvGrpSpPr>
        <p:grpSpPr>
          <a:xfrm>
            <a:off x="17359312" y="3100388"/>
            <a:ext cx="14288" cy="1171575"/>
            <a:chOff x="0" y="0"/>
            <a:chExt cx="19050" cy="1562100"/>
          </a:xfrm>
        </p:grpSpPr>
        <p:sp>
          <p:nvSpPr>
            <p:cNvPr id="19" name="Freeform 19"/>
            <p:cNvSpPr/>
            <p:nvPr/>
          </p:nvSpPr>
          <p:spPr>
            <a:xfrm>
              <a:off x="0" y="0"/>
              <a:ext cx="19050" cy="1562100"/>
            </a:xfrm>
            <a:custGeom>
              <a:avLst/>
              <a:gdLst/>
              <a:ahLst/>
              <a:cxnLst/>
              <a:rect l="l" t="t" r="r" b="b"/>
              <a:pathLst>
                <a:path w="19050" h="1562100">
                  <a:moveTo>
                    <a:pt x="0" y="0"/>
                  </a:moveTo>
                  <a:lnTo>
                    <a:pt x="19050" y="0"/>
                  </a:lnTo>
                  <a:lnTo>
                    <a:pt x="19050" y="1562100"/>
                  </a:lnTo>
                  <a:lnTo>
                    <a:pt x="0" y="1562100"/>
                  </a:lnTo>
                  <a:close/>
                </a:path>
              </a:pathLst>
            </a:custGeom>
            <a:solidFill>
              <a:srgbClr val="E2E8F0"/>
            </a:solidFill>
          </p:spPr>
        </p:sp>
      </p:grpSp>
      <p:grpSp>
        <p:nvGrpSpPr>
          <p:cNvPr id="20" name="Group 20"/>
          <p:cNvGrpSpPr/>
          <p:nvPr/>
        </p:nvGrpSpPr>
        <p:grpSpPr>
          <a:xfrm>
            <a:off x="914400" y="5657850"/>
            <a:ext cx="16459200" cy="14288"/>
            <a:chOff x="0" y="0"/>
            <a:chExt cx="21945600" cy="19050"/>
          </a:xfrm>
        </p:grpSpPr>
        <p:sp>
          <p:nvSpPr>
            <p:cNvPr id="21" name="Freeform 21"/>
            <p:cNvSpPr/>
            <p:nvPr/>
          </p:nvSpPr>
          <p:spPr>
            <a:xfrm>
              <a:off x="0" y="0"/>
              <a:ext cx="21945600" cy="19050"/>
            </a:xfrm>
            <a:custGeom>
              <a:avLst/>
              <a:gdLst/>
              <a:ahLst/>
              <a:cxnLst/>
              <a:rect l="l" t="t" r="r" b="b"/>
              <a:pathLst>
                <a:path w="21945600" h="19050">
                  <a:moveTo>
                    <a:pt x="0" y="0"/>
                  </a:moveTo>
                  <a:lnTo>
                    <a:pt x="21945600" y="0"/>
                  </a:lnTo>
                  <a:lnTo>
                    <a:pt x="21945600" y="19050"/>
                  </a:lnTo>
                  <a:lnTo>
                    <a:pt x="0" y="19050"/>
                  </a:lnTo>
                  <a:close/>
                </a:path>
              </a:pathLst>
            </a:custGeom>
            <a:solidFill>
              <a:srgbClr val="E2E8F0"/>
            </a:solidFill>
          </p:spPr>
        </p:sp>
      </p:grpSp>
      <p:grpSp>
        <p:nvGrpSpPr>
          <p:cNvPr id="22" name="Group 22"/>
          <p:cNvGrpSpPr/>
          <p:nvPr/>
        </p:nvGrpSpPr>
        <p:grpSpPr>
          <a:xfrm>
            <a:off x="914400" y="4500562"/>
            <a:ext cx="16459200" cy="14288"/>
            <a:chOff x="0" y="0"/>
            <a:chExt cx="21945600" cy="19050"/>
          </a:xfrm>
        </p:grpSpPr>
        <p:sp>
          <p:nvSpPr>
            <p:cNvPr id="23" name="Freeform 23"/>
            <p:cNvSpPr/>
            <p:nvPr/>
          </p:nvSpPr>
          <p:spPr>
            <a:xfrm>
              <a:off x="0" y="0"/>
              <a:ext cx="21945600" cy="19050"/>
            </a:xfrm>
            <a:custGeom>
              <a:avLst/>
              <a:gdLst/>
              <a:ahLst/>
              <a:cxnLst/>
              <a:rect l="l" t="t" r="r" b="b"/>
              <a:pathLst>
                <a:path w="21945600" h="19050">
                  <a:moveTo>
                    <a:pt x="0" y="0"/>
                  </a:moveTo>
                  <a:lnTo>
                    <a:pt x="21945600" y="0"/>
                  </a:lnTo>
                  <a:lnTo>
                    <a:pt x="21945600" y="19050"/>
                  </a:lnTo>
                  <a:lnTo>
                    <a:pt x="0" y="19050"/>
                  </a:lnTo>
                  <a:close/>
                </a:path>
              </a:pathLst>
            </a:custGeom>
            <a:solidFill>
              <a:srgbClr val="E2E8F0"/>
            </a:solidFill>
          </p:spPr>
        </p:sp>
      </p:grpSp>
      <p:grpSp>
        <p:nvGrpSpPr>
          <p:cNvPr id="24" name="Group 24"/>
          <p:cNvGrpSpPr/>
          <p:nvPr/>
        </p:nvGrpSpPr>
        <p:grpSpPr>
          <a:xfrm>
            <a:off x="914400" y="4500562"/>
            <a:ext cx="71438" cy="1171575"/>
            <a:chOff x="0" y="0"/>
            <a:chExt cx="95250" cy="1562100"/>
          </a:xfrm>
        </p:grpSpPr>
        <p:sp>
          <p:nvSpPr>
            <p:cNvPr id="25" name="Freeform 25"/>
            <p:cNvSpPr/>
            <p:nvPr/>
          </p:nvSpPr>
          <p:spPr>
            <a:xfrm>
              <a:off x="0" y="0"/>
              <a:ext cx="95250" cy="1562100"/>
            </a:xfrm>
            <a:custGeom>
              <a:avLst/>
              <a:gdLst/>
              <a:ahLst/>
              <a:cxnLst/>
              <a:rect l="l" t="t" r="r" b="b"/>
              <a:pathLst>
                <a:path w="95250" h="1562100">
                  <a:moveTo>
                    <a:pt x="0" y="0"/>
                  </a:moveTo>
                  <a:lnTo>
                    <a:pt x="95250" y="0"/>
                  </a:lnTo>
                  <a:lnTo>
                    <a:pt x="95250" y="1562100"/>
                  </a:lnTo>
                  <a:lnTo>
                    <a:pt x="0" y="1562100"/>
                  </a:lnTo>
                  <a:close/>
                </a:path>
              </a:pathLst>
            </a:custGeom>
            <a:solidFill>
              <a:srgbClr val="0284C7"/>
            </a:solidFill>
          </p:spPr>
        </p:sp>
      </p:grpSp>
      <p:grpSp>
        <p:nvGrpSpPr>
          <p:cNvPr id="26" name="Group 26"/>
          <p:cNvGrpSpPr/>
          <p:nvPr/>
        </p:nvGrpSpPr>
        <p:grpSpPr>
          <a:xfrm>
            <a:off x="17359312" y="4500562"/>
            <a:ext cx="14288" cy="1171575"/>
            <a:chOff x="0" y="0"/>
            <a:chExt cx="19050" cy="1562100"/>
          </a:xfrm>
        </p:grpSpPr>
        <p:sp>
          <p:nvSpPr>
            <p:cNvPr id="27" name="Freeform 27"/>
            <p:cNvSpPr/>
            <p:nvPr/>
          </p:nvSpPr>
          <p:spPr>
            <a:xfrm>
              <a:off x="0" y="0"/>
              <a:ext cx="19050" cy="1562100"/>
            </a:xfrm>
            <a:custGeom>
              <a:avLst/>
              <a:gdLst/>
              <a:ahLst/>
              <a:cxnLst/>
              <a:rect l="l" t="t" r="r" b="b"/>
              <a:pathLst>
                <a:path w="19050" h="1562100">
                  <a:moveTo>
                    <a:pt x="0" y="0"/>
                  </a:moveTo>
                  <a:lnTo>
                    <a:pt x="19050" y="0"/>
                  </a:lnTo>
                  <a:lnTo>
                    <a:pt x="19050" y="1562100"/>
                  </a:lnTo>
                  <a:lnTo>
                    <a:pt x="0" y="1562100"/>
                  </a:lnTo>
                  <a:close/>
                </a:path>
              </a:pathLst>
            </a:custGeom>
            <a:solidFill>
              <a:srgbClr val="E2E8F0"/>
            </a:solidFill>
          </p:spPr>
        </p:sp>
      </p:grpSp>
      <p:grpSp>
        <p:nvGrpSpPr>
          <p:cNvPr id="28" name="Group 28"/>
          <p:cNvGrpSpPr/>
          <p:nvPr/>
        </p:nvGrpSpPr>
        <p:grpSpPr>
          <a:xfrm>
            <a:off x="914400" y="7058025"/>
            <a:ext cx="16459200" cy="14288"/>
            <a:chOff x="0" y="0"/>
            <a:chExt cx="21945600" cy="19050"/>
          </a:xfrm>
        </p:grpSpPr>
        <p:sp>
          <p:nvSpPr>
            <p:cNvPr id="29" name="Freeform 29"/>
            <p:cNvSpPr/>
            <p:nvPr/>
          </p:nvSpPr>
          <p:spPr>
            <a:xfrm>
              <a:off x="0" y="0"/>
              <a:ext cx="21945600" cy="19050"/>
            </a:xfrm>
            <a:custGeom>
              <a:avLst/>
              <a:gdLst/>
              <a:ahLst/>
              <a:cxnLst/>
              <a:rect l="l" t="t" r="r" b="b"/>
              <a:pathLst>
                <a:path w="21945600" h="19050">
                  <a:moveTo>
                    <a:pt x="0" y="0"/>
                  </a:moveTo>
                  <a:lnTo>
                    <a:pt x="21945600" y="0"/>
                  </a:lnTo>
                  <a:lnTo>
                    <a:pt x="21945600" y="19050"/>
                  </a:lnTo>
                  <a:lnTo>
                    <a:pt x="0" y="19050"/>
                  </a:lnTo>
                  <a:close/>
                </a:path>
              </a:pathLst>
            </a:custGeom>
            <a:solidFill>
              <a:srgbClr val="E2E8F0"/>
            </a:solidFill>
          </p:spPr>
        </p:sp>
      </p:grpSp>
      <p:grpSp>
        <p:nvGrpSpPr>
          <p:cNvPr id="30" name="Group 30"/>
          <p:cNvGrpSpPr/>
          <p:nvPr/>
        </p:nvGrpSpPr>
        <p:grpSpPr>
          <a:xfrm>
            <a:off x="914400" y="5900738"/>
            <a:ext cx="16459200" cy="14288"/>
            <a:chOff x="0" y="0"/>
            <a:chExt cx="21945600" cy="19050"/>
          </a:xfrm>
        </p:grpSpPr>
        <p:sp>
          <p:nvSpPr>
            <p:cNvPr id="31" name="Freeform 31"/>
            <p:cNvSpPr/>
            <p:nvPr/>
          </p:nvSpPr>
          <p:spPr>
            <a:xfrm>
              <a:off x="0" y="0"/>
              <a:ext cx="21945600" cy="19050"/>
            </a:xfrm>
            <a:custGeom>
              <a:avLst/>
              <a:gdLst/>
              <a:ahLst/>
              <a:cxnLst/>
              <a:rect l="l" t="t" r="r" b="b"/>
              <a:pathLst>
                <a:path w="21945600" h="19050">
                  <a:moveTo>
                    <a:pt x="0" y="0"/>
                  </a:moveTo>
                  <a:lnTo>
                    <a:pt x="21945600" y="0"/>
                  </a:lnTo>
                  <a:lnTo>
                    <a:pt x="21945600" y="19050"/>
                  </a:lnTo>
                  <a:lnTo>
                    <a:pt x="0" y="19050"/>
                  </a:lnTo>
                  <a:close/>
                </a:path>
              </a:pathLst>
            </a:custGeom>
            <a:solidFill>
              <a:srgbClr val="E2E8F0"/>
            </a:solidFill>
          </p:spPr>
        </p:sp>
      </p:grpSp>
      <p:grpSp>
        <p:nvGrpSpPr>
          <p:cNvPr id="32" name="Group 32"/>
          <p:cNvGrpSpPr/>
          <p:nvPr/>
        </p:nvGrpSpPr>
        <p:grpSpPr>
          <a:xfrm>
            <a:off x="914400" y="5900738"/>
            <a:ext cx="71438" cy="1171575"/>
            <a:chOff x="0" y="0"/>
            <a:chExt cx="95250" cy="1562100"/>
          </a:xfrm>
        </p:grpSpPr>
        <p:sp>
          <p:nvSpPr>
            <p:cNvPr id="33" name="Freeform 33"/>
            <p:cNvSpPr/>
            <p:nvPr/>
          </p:nvSpPr>
          <p:spPr>
            <a:xfrm>
              <a:off x="0" y="0"/>
              <a:ext cx="95250" cy="1562100"/>
            </a:xfrm>
            <a:custGeom>
              <a:avLst/>
              <a:gdLst/>
              <a:ahLst/>
              <a:cxnLst/>
              <a:rect l="l" t="t" r="r" b="b"/>
              <a:pathLst>
                <a:path w="95250" h="1562100">
                  <a:moveTo>
                    <a:pt x="0" y="0"/>
                  </a:moveTo>
                  <a:lnTo>
                    <a:pt x="95250" y="0"/>
                  </a:lnTo>
                  <a:lnTo>
                    <a:pt x="95250" y="1562100"/>
                  </a:lnTo>
                  <a:lnTo>
                    <a:pt x="0" y="1562100"/>
                  </a:lnTo>
                  <a:close/>
                </a:path>
              </a:pathLst>
            </a:custGeom>
            <a:solidFill>
              <a:srgbClr val="0284C7"/>
            </a:solidFill>
          </p:spPr>
        </p:sp>
      </p:grpSp>
      <p:grpSp>
        <p:nvGrpSpPr>
          <p:cNvPr id="34" name="Group 34"/>
          <p:cNvGrpSpPr/>
          <p:nvPr/>
        </p:nvGrpSpPr>
        <p:grpSpPr>
          <a:xfrm>
            <a:off x="17359312" y="5900738"/>
            <a:ext cx="14288" cy="1171575"/>
            <a:chOff x="0" y="0"/>
            <a:chExt cx="19050" cy="1562100"/>
          </a:xfrm>
        </p:grpSpPr>
        <p:sp>
          <p:nvSpPr>
            <p:cNvPr id="35" name="Freeform 35"/>
            <p:cNvSpPr/>
            <p:nvPr/>
          </p:nvSpPr>
          <p:spPr>
            <a:xfrm>
              <a:off x="0" y="0"/>
              <a:ext cx="19050" cy="1562100"/>
            </a:xfrm>
            <a:custGeom>
              <a:avLst/>
              <a:gdLst/>
              <a:ahLst/>
              <a:cxnLst/>
              <a:rect l="l" t="t" r="r" b="b"/>
              <a:pathLst>
                <a:path w="19050" h="1562100">
                  <a:moveTo>
                    <a:pt x="0" y="0"/>
                  </a:moveTo>
                  <a:lnTo>
                    <a:pt x="19050" y="0"/>
                  </a:lnTo>
                  <a:lnTo>
                    <a:pt x="19050" y="1562100"/>
                  </a:lnTo>
                  <a:lnTo>
                    <a:pt x="0" y="1562100"/>
                  </a:lnTo>
                  <a:close/>
                </a:path>
              </a:pathLst>
            </a:custGeom>
            <a:solidFill>
              <a:srgbClr val="E2E8F0"/>
            </a:solidFill>
          </p:spPr>
        </p:sp>
      </p:grpSp>
      <p:grpSp>
        <p:nvGrpSpPr>
          <p:cNvPr id="36" name="Group 36"/>
          <p:cNvGrpSpPr/>
          <p:nvPr/>
        </p:nvGrpSpPr>
        <p:grpSpPr>
          <a:xfrm>
            <a:off x="914400" y="8458200"/>
            <a:ext cx="16459200" cy="14288"/>
            <a:chOff x="0" y="0"/>
            <a:chExt cx="21945600" cy="19050"/>
          </a:xfrm>
        </p:grpSpPr>
        <p:sp>
          <p:nvSpPr>
            <p:cNvPr id="37" name="Freeform 37"/>
            <p:cNvSpPr/>
            <p:nvPr/>
          </p:nvSpPr>
          <p:spPr>
            <a:xfrm>
              <a:off x="0" y="0"/>
              <a:ext cx="21945600" cy="19050"/>
            </a:xfrm>
            <a:custGeom>
              <a:avLst/>
              <a:gdLst/>
              <a:ahLst/>
              <a:cxnLst/>
              <a:rect l="l" t="t" r="r" b="b"/>
              <a:pathLst>
                <a:path w="21945600" h="19050">
                  <a:moveTo>
                    <a:pt x="0" y="0"/>
                  </a:moveTo>
                  <a:lnTo>
                    <a:pt x="21945600" y="0"/>
                  </a:lnTo>
                  <a:lnTo>
                    <a:pt x="21945600" y="19050"/>
                  </a:lnTo>
                  <a:lnTo>
                    <a:pt x="0" y="19050"/>
                  </a:lnTo>
                  <a:close/>
                </a:path>
              </a:pathLst>
            </a:custGeom>
            <a:solidFill>
              <a:srgbClr val="E2E8F0"/>
            </a:solidFill>
          </p:spPr>
        </p:sp>
      </p:grpSp>
      <p:grpSp>
        <p:nvGrpSpPr>
          <p:cNvPr id="38" name="Group 38"/>
          <p:cNvGrpSpPr/>
          <p:nvPr/>
        </p:nvGrpSpPr>
        <p:grpSpPr>
          <a:xfrm>
            <a:off x="914400" y="7300912"/>
            <a:ext cx="16459200" cy="14288"/>
            <a:chOff x="0" y="0"/>
            <a:chExt cx="21945600" cy="19050"/>
          </a:xfrm>
        </p:grpSpPr>
        <p:sp>
          <p:nvSpPr>
            <p:cNvPr id="39" name="Freeform 39"/>
            <p:cNvSpPr/>
            <p:nvPr/>
          </p:nvSpPr>
          <p:spPr>
            <a:xfrm>
              <a:off x="0" y="0"/>
              <a:ext cx="21945600" cy="19050"/>
            </a:xfrm>
            <a:custGeom>
              <a:avLst/>
              <a:gdLst/>
              <a:ahLst/>
              <a:cxnLst/>
              <a:rect l="l" t="t" r="r" b="b"/>
              <a:pathLst>
                <a:path w="21945600" h="19050">
                  <a:moveTo>
                    <a:pt x="0" y="0"/>
                  </a:moveTo>
                  <a:lnTo>
                    <a:pt x="21945600" y="0"/>
                  </a:lnTo>
                  <a:lnTo>
                    <a:pt x="21945600" y="19050"/>
                  </a:lnTo>
                  <a:lnTo>
                    <a:pt x="0" y="19050"/>
                  </a:lnTo>
                  <a:close/>
                </a:path>
              </a:pathLst>
            </a:custGeom>
            <a:solidFill>
              <a:srgbClr val="E2E8F0"/>
            </a:solidFill>
          </p:spPr>
        </p:sp>
      </p:grpSp>
      <p:grpSp>
        <p:nvGrpSpPr>
          <p:cNvPr id="40" name="Group 40"/>
          <p:cNvGrpSpPr/>
          <p:nvPr/>
        </p:nvGrpSpPr>
        <p:grpSpPr>
          <a:xfrm>
            <a:off x="914400" y="7300912"/>
            <a:ext cx="71438" cy="1171575"/>
            <a:chOff x="0" y="0"/>
            <a:chExt cx="95250" cy="1562100"/>
          </a:xfrm>
        </p:grpSpPr>
        <p:sp>
          <p:nvSpPr>
            <p:cNvPr id="41" name="Freeform 41"/>
            <p:cNvSpPr/>
            <p:nvPr/>
          </p:nvSpPr>
          <p:spPr>
            <a:xfrm>
              <a:off x="0" y="0"/>
              <a:ext cx="95250" cy="1562100"/>
            </a:xfrm>
            <a:custGeom>
              <a:avLst/>
              <a:gdLst/>
              <a:ahLst/>
              <a:cxnLst/>
              <a:rect l="l" t="t" r="r" b="b"/>
              <a:pathLst>
                <a:path w="95250" h="1562100">
                  <a:moveTo>
                    <a:pt x="0" y="0"/>
                  </a:moveTo>
                  <a:lnTo>
                    <a:pt x="95250" y="0"/>
                  </a:lnTo>
                  <a:lnTo>
                    <a:pt x="95250" y="1562100"/>
                  </a:lnTo>
                  <a:lnTo>
                    <a:pt x="0" y="1562100"/>
                  </a:lnTo>
                  <a:close/>
                </a:path>
              </a:pathLst>
            </a:custGeom>
            <a:solidFill>
              <a:srgbClr val="0284C7"/>
            </a:solidFill>
          </p:spPr>
        </p:sp>
      </p:grpSp>
      <p:grpSp>
        <p:nvGrpSpPr>
          <p:cNvPr id="42" name="Group 42"/>
          <p:cNvGrpSpPr/>
          <p:nvPr/>
        </p:nvGrpSpPr>
        <p:grpSpPr>
          <a:xfrm>
            <a:off x="17359312" y="7300912"/>
            <a:ext cx="14288" cy="1171575"/>
            <a:chOff x="0" y="0"/>
            <a:chExt cx="19050" cy="1562100"/>
          </a:xfrm>
        </p:grpSpPr>
        <p:sp>
          <p:nvSpPr>
            <p:cNvPr id="43" name="Freeform 43"/>
            <p:cNvSpPr/>
            <p:nvPr/>
          </p:nvSpPr>
          <p:spPr>
            <a:xfrm>
              <a:off x="0" y="0"/>
              <a:ext cx="19050" cy="1562100"/>
            </a:xfrm>
            <a:custGeom>
              <a:avLst/>
              <a:gdLst/>
              <a:ahLst/>
              <a:cxnLst/>
              <a:rect l="l" t="t" r="r" b="b"/>
              <a:pathLst>
                <a:path w="19050" h="1562100">
                  <a:moveTo>
                    <a:pt x="0" y="0"/>
                  </a:moveTo>
                  <a:lnTo>
                    <a:pt x="19050" y="0"/>
                  </a:lnTo>
                  <a:lnTo>
                    <a:pt x="19050" y="1562100"/>
                  </a:lnTo>
                  <a:lnTo>
                    <a:pt x="0" y="1562100"/>
                  </a:lnTo>
                  <a:close/>
                </a:path>
              </a:pathLst>
            </a:custGeom>
            <a:solidFill>
              <a:srgbClr val="E2E8F0"/>
            </a:solidFill>
          </p:spPr>
        </p:sp>
      </p:grpSp>
      <p:sp>
        <p:nvSpPr>
          <p:cNvPr id="44" name="TextBox 44"/>
          <p:cNvSpPr txBox="1"/>
          <p:nvPr/>
        </p:nvSpPr>
        <p:spPr>
          <a:xfrm>
            <a:off x="914400" y="885825"/>
            <a:ext cx="6420803" cy="628650"/>
          </a:xfrm>
          <a:prstGeom prst="rect">
            <a:avLst/>
          </a:prstGeom>
        </p:spPr>
        <p:txBody>
          <a:bodyPr lIns="0" tIns="0" rIns="0" bIns="0" rtlCol="0" anchor="t">
            <a:spAutoFit/>
          </a:bodyPr>
          <a:lstStyle/>
          <a:p>
            <a:pPr algn="l">
              <a:lnSpc>
                <a:spcPts val="4320"/>
              </a:lnSpc>
            </a:pPr>
            <a:r>
              <a:rPr lang="en-US" sz="3600" b="1">
                <a:solidFill>
                  <a:srgbClr val="0F172A"/>
                </a:solidFill>
                <a:latin typeface="Arimo Bold"/>
                <a:ea typeface="Arimo Bold"/>
                <a:cs typeface="Arimo Bold"/>
                <a:sym typeface="Arimo Bold"/>
              </a:rPr>
              <a:t>WHO ARE THE END USERS?</a:t>
            </a:r>
          </a:p>
        </p:txBody>
      </p:sp>
      <p:sp>
        <p:nvSpPr>
          <p:cNvPr id="45" name="TextBox 45"/>
          <p:cNvSpPr txBox="1"/>
          <p:nvPr/>
        </p:nvSpPr>
        <p:spPr>
          <a:xfrm>
            <a:off x="1328738" y="3333750"/>
            <a:ext cx="16959262" cy="338137"/>
          </a:xfrm>
          <a:prstGeom prst="rect">
            <a:avLst/>
          </a:prstGeom>
        </p:spPr>
        <p:txBody>
          <a:bodyPr lIns="0" tIns="0" rIns="0" bIns="0" rtlCol="0" anchor="t">
            <a:spAutoFit/>
          </a:bodyPr>
          <a:lstStyle/>
          <a:p>
            <a:pPr algn="l">
              <a:lnSpc>
                <a:spcPts val="2430"/>
              </a:lnSpc>
            </a:pPr>
            <a:r>
              <a:rPr lang="en-US" sz="2025" b="1">
                <a:solidFill>
                  <a:srgbClr val="0F172A"/>
                </a:solidFill>
                <a:latin typeface="Arimo Bold"/>
                <a:ea typeface="Arimo Bold"/>
                <a:cs typeface="Arimo Bold"/>
                <a:sym typeface="Arimo Bold"/>
              </a:rPr>
              <a:t>Hospital &amp; Clinic Administrators:</a:t>
            </a:r>
          </a:p>
        </p:txBody>
      </p:sp>
      <p:sp>
        <p:nvSpPr>
          <p:cNvPr id="46" name="TextBox 46"/>
          <p:cNvSpPr txBox="1"/>
          <p:nvPr/>
        </p:nvSpPr>
        <p:spPr>
          <a:xfrm>
            <a:off x="1328738" y="3729038"/>
            <a:ext cx="16959262" cy="300038"/>
          </a:xfrm>
          <a:prstGeom prst="rect">
            <a:avLst/>
          </a:prstGeom>
        </p:spPr>
        <p:txBody>
          <a:bodyPr lIns="0" tIns="0" rIns="0" bIns="0" rtlCol="0" anchor="t">
            <a:spAutoFit/>
          </a:bodyPr>
          <a:lstStyle/>
          <a:p>
            <a:pPr algn="l">
              <a:lnSpc>
                <a:spcPts val="2160"/>
              </a:lnSpc>
            </a:pPr>
            <a:r>
              <a:rPr lang="en-US" sz="1800">
                <a:solidFill>
                  <a:srgbClr val="475569"/>
                </a:solidFill>
                <a:latin typeface="Inter"/>
                <a:ea typeface="Inter"/>
                <a:cs typeface="Inter"/>
                <a:sym typeface="Inter"/>
              </a:rPr>
              <a:t>To optimize outpatient staff scheduling, forecast triage load, and prevent clinic bottlenecks during surges.</a:t>
            </a:r>
          </a:p>
        </p:txBody>
      </p:sp>
      <p:sp>
        <p:nvSpPr>
          <p:cNvPr id="47" name="TextBox 47"/>
          <p:cNvSpPr txBox="1"/>
          <p:nvPr/>
        </p:nvSpPr>
        <p:spPr>
          <a:xfrm>
            <a:off x="1328738" y="4733925"/>
            <a:ext cx="16959262" cy="338137"/>
          </a:xfrm>
          <a:prstGeom prst="rect">
            <a:avLst/>
          </a:prstGeom>
        </p:spPr>
        <p:txBody>
          <a:bodyPr lIns="0" tIns="0" rIns="0" bIns="0" rtlCol="0" anchor="t">
            <a:spAutoFit/>
          </a:bodyPr>
          <a:lstStyle/>
          <a:p>
            <a:pPr algn="l">
              <a:lnSpc>
                <a:spcPts val="2430"/>
              </a:lnSpc>
            </a:pPr>
            <a:r>
              <a:rPr lang="en-US" sz="2025" b="1">
                <a:solidFill>
                  <a:srgbClr val="0F172A"/>
                </a:solidFill>
                <a:latin typeface="Arimo Bold"/>
                <a:ea typeface="Arimo Bold"/>
                <a:cs typeface="Arimo Bold"/>
                <a:sym typeface="Arimo Bold"/>
              </a:rPr>
              <a:t>Public Health Agencies &amp; Government Bodies:</a:t>
            </a:r>
          </a:p>
        </p:txBody>
      </p:sp>
      <p:sp>
        <p:nvSpPr>
          <p:cNvPr id="48" name="TextBox 48"/>
          <p:cNvSpPr txBox="1"/>
          <p:nvPr/>
        </p:nvSpPr>
        <p:spPr>
          <a:xfrm>
            <a:off x="1328738" y="5129212"/>
            <a:ext cx="16959262" cy="300038"/>
          </a:xfrm>
          <a:prstGeom prst="rect">
            <a:avLst/>
          </a:prstGeom>
        </p:spPr>
        <p:txBody>
          <a:bodyPr lIns="0" tIns="0" rIns="0" bIns="0" rtlCol="0" anchor="t">
            <a:spAutoFit/>
          </a:bodyPr>
          <a:lstStyle/>
          <a:p>
            <a:pPr algn="l">
              <a:lnSpc>
                <a:spcPts val="2160"/>
              </a:lnSpc>
            </a:pPr>
            <a:r>
              <a:rPr lang="en-US" sz="1800">
                <a:solidFill>
                  <a:srgbClr val="475569"/>
                </a:solidFill>
                <a:latin typeface="Inter"/>
                <a:ea typeface="Inter"/>
                <a:cs typeface="Inter"/>
                <a:sym typeface="Inter"/>
              </a:rPr>
              <a:t>To evaluate the efficacy of free medical relief programs (freepoor, freerepat) and allocate healthcare subsidies where demand is highest.</a:t>
            </a:r>
          </a:p>
        </p:txBody>
      </p:sp>
      <p:sp>
        <p:nvSpPr>
          <p:cNvPr id="49" name="TextBox 49"/>
          <p:cNvSpPr txBox="1"/>
          <p:nvPr/>
        </p:nvSpPr>
        <p:spPr>
          <a:xfrm>
            <a:off x="1328738" y="6134100"/>
            <a:ext cx="16959262" cy="338137"/>
          </a:xfrm>
          <a:prstGeom prst="rect">
            <a:avLst/>
          </a:prstGeom>
        </p:spPr>
        <p:txBody>
          <a:bodyPr lIns="0" tIns="0" rIns="0" bIns="0" rtlCol="0" anchor="t">
            <a:spAutoFit/>
          </a:bodyPr>
          <a:lstStyle/>
          <a:p>
            <a:pPr algn="l">
              <a:lnSpc>
                <a:spcPts val="2430"/>
              </a:lnSpc>
            </a:pPr>
            <a:r>
              <a:rPr lang="en-US" sz="2025" b="1">
                <a:solidFill>
                  <a:srgbClr val="0F172A"/>
                </a:solidFill>
                <a:latin typeface="Arimo Bold"/>
                <a:ea typeface="Arimo Bold"/>
                <a:cs typeface="Arimo Bold"/>
                <a:sym typeface="Arimo Bold"/>
              </a:rPr>
              <a:t>Primary Care Physicians &amp; Community Health Workers:</a:t>
            </a:r>
          </a:p>
        </p:txBody>
      </p:sp>
      <p:sp>
        <p:nvSpPr>
          <p:cNvPr id="50" name="TextBox 50"/>
          <p:cNvSpPr txBox="1"/>
          <p:nvPr/>
        </p:nvSpPr>
        <p:spPr>
          <a:xfrm>
            <a:off x="1328738" y="6529388"/>
            <a:ext cx="16959262" cy="300038"/>
          </a:xfrm>
          <a:prstGeom prst="rect">
            <a:avLst/>
          </a:prstGeom>
        </p:spPr>
        <p:txBody>
          <a:bodyPr lIns="0" tIns="0" rIns="0" bIns="0" rtlCol="0" anchor="t">
            <a:spAutoFit/>
          </a:bodyPr>
          <a:lstStyle/>
          <a:p>
            <a:pPr algn="l">
              <a:lnSpc>
                <a:spcPts val="2160"/>
              </a:lnSpc>
            </a:pPr>
            <a:r>
              <a:rPr lang="en-US" sz="1800">
                <a:solidFill>
                  <a:srgbClr val="475569"/>
                </a:solidFill>
                <a:latin typeface="Inter"/>
                <a:ea typeface="Inter"/>
                <a:cs typeface="Inter"/>
                <a:sym typeface="Inter"/>
              </a:rPr>
              <a:t>To identify chronic patients at risk of activity-limiting illnesses and coordinate proactive preventive intervention.</a:t>
            </a:r>
          </a:p>
        </p:txBody>
      </p:sp>
      <p:sp>
        <p:nvSpPr>
          <p:cNvPr id="51" name="TextBox 51"/>
          <p:cNvSpPr txBox="1"/>
          <p:nvPr/>
        </p:nvSpPr>
        <p:spPr>
          <a:xfrm>
            <a:off x="1328738" y="7534275"/>
            <a:ext cx="16959262" cy="338137"/>
          </a:xfrm>
          <a:prstGeom prst="rect">
            <a:avLst/>
          </a:prstGeom>
        </p:spPr>
        <p:txBody>
          <a:bodyPr lIns="0" tIns="0" rIns="0" bIns="0" rtlCol="0" anchor="t">
            <a:spAutoFit/>
          </a:bodyPr>
          <a:lstStyle/>
          <a:p>
            <a:pPr algn="l">
              <a:lnSpc>
                <a:spcPts val="2430"/>
              </a:lnSpc>
            </a:pPr>
            <a:r>
              <a:rPr lang="en-US" sz="2025" b="1">
                <a:solidFill>
                  <a:srgbClr val="0F172A"/>
                </a:solidFill>
                <a:latin typeface="Arimo Bold"/>
                <a:ea typeface="Arimo Bold"/>
                <a:cs typeface="Arimo Bold"/>
                <a:sym typeface="Arimo Bold"/>
              </a:rPr>
              <a:t>Health Insurance Providers &amp; Actuaries:</a:t>
            </a:r>
          </a:p>
        </p:txBody>
      </p:sp>
      <p:sp>
        <p:nvSpPr>
          <p:cNvPr id="52" name="TextBox 52"/>
          <p:cNvSpPr txBox="1"/>
          <p:nvPr/>
        </p:nvSpPr>
        <p:spPr>
          <a:xfrm>
            <a:off x="1328738" y="7929562"/>
            <a:ext cx="16959262" cy="300038"/>
          </a:xfrm>
          <a:prstGeom prst="rect">
            <a:avLst/>
          </a:prstGeom>
        </p:spPr>
        <p:txBody>
          <a:bodyPr lIns="0" tIns="0" rIns="0" bIns="0" rtlCol="0" anchor="t">
            <a:spAutoFit/>
          </a:bodyPr>
          <a:lstStyle/>
          <a:p>
            <a:pPr algn="l">
              <a:lnSpc>
                <a:spcPts val="2160"/>
              </a:lnSpc>
            </a:pPr>
            <a:r>
              <a:rPr lang="en-US" sz="1800">
                <a:solidFill>
                  <a:srgbClr val="475569"/>
                </a:solidFill>
                <a:latin typeface="Inter"/>
                <a:ea typeface="Inter"/>
                <a:cs typeface="Inter"/>
                <a:sym typeface="Inter"/>
              </a:rPr>
              <a:t>To calibrate outpatient insurance policies, price risk premiums, and analyze claim frequencies based on demographic cohorts.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 y="1600200"/>
            <a:ext cx="4329112" cy="28575"/>
            <a:chOff x="0" y="0"/>
            <a:chExt cx="5772150" cy="38100"/>
          </a:xfrm>
        </p:grpSpPr>
        <p:sp>
          <p:nvSpPr>
            <p:cNvPr id="3" name="Freeform 3"/>
            <p:cNvSpPr/>
            <p:nvPr/>
          </p:nvSpPr>
          <p:spPr>
            <a:xfrm>
              <a:off x="0" y="0"/>
              <a:ext cx="5772150" cy="38100"/>
            </a:xfrm>
            <a:custGeom>
              <a:avLst/>
              <a:gdLst/>
              <a:ahLst/>
              <a:cxnLst/>
              <a:rect l="l" t="t" r="r" b="b"/>
              <a:pathLst>
                <a:path w="5772150" h="38100">
                  <a:moveTo>
                    <a:pt x="0" y="0"/>
                  </a:moveTo>
                  <a:lnTo>
                    <a:pt x="5772150" y="0"/>
                  </a:lnTo>
                  <a:lnTo>
                    <a:pt x="5772150" y="38100"/>
                  </a:lnTo>
                  <a:lnTo>
                    <a:pt x="0" y="38100"/>
                  </a:lnTo>
                  <a:close/>
                </a:path>
              </a:pathLst>
            </a:custGeom>
            <a:solidFill>
              <a:srgbClr val="0284C7"/>
            </a:solidFill>
          </p:spPr>
        </p:sp>
      </p:grpSp>
      <p:grpSp>
        <p:nvGrpSpPr>
          <p:cNvPr id="4" name="Group 4"/>
          <p:cNvGrpSpPr/>
          <p:nvPr/>
        </p:nvGrpSpPr>
        <p:grpSpPr>
          <a:xfrm>
            <a:off x="907256" y="4429125"/>
            <a:ext cx="3871912" cy="2714625"/>
            <a:chOff x="0" y="0"/>
            <a:chExt cx="5162550" cy="3619500"/>
          </a:xfrm>
        </p:grpSpPr>
        <p:sp>
          <p:nvSpPr>
            <p:cNvPr id="5" name="Freeform 5"/>
            <p:cNvSpPr/>
            <p:nvPr/>
          </p:nvSpPr>
          <p:spPr>
            <a:xfrm>
              <a:off x="0" y="0"/>
              <a:ext cx="5162550" cy="3619500"/>
            </a:xfrm>
            <a:custGeom>
              <a:avLst/>
              <a:gdLst/>
              <a:ahLst/>
              <a:cxnLst/>
              <a:rect l="l" t="t" r="r" b="b"/>
              <a:pathLst>
                <a:path w="5162550" h="3619500">
                  <a:moveTo>
                    <a:pt x="0" y="229743"/>
                  </a:moveTo>
                  <a:cubicBezTo>
                    <a:pt x="0" y="102870"/>
                    <a:pt x="102870" y="0"/>
                    <a:pt x="229743" y="0"/>
                  </a:cubicBezTo>
                  <a:lnTo>
                    <a:pt x="4932807" y="0"/>
                  </a:lnTo>
                  <a:cubicBezTo>
                    <a:pt x="5059680" y="0"/>
                    <a:pt x="5162550" y="102870"/>
                    <a:pt x="5162550" y="229743"/>
                  </a:cubicBezTo>
                  <a:lnTo>
                    <a:pt x="5162550" y="3389757"/>
                  </a:lnTo>
                  <a:cubicBezTo>
                    <a:pt x="5162550" y="3516630"/>
                    <a:pt x="5059680" y="3619500"/>
                    <a:pt x="4932807" y="3619500"/>
                  </a:cubicBezTo>
                  <a:lnTo>
                    <a:pt x="229743" y="3619500"/>
                  </a:lnTo>
                  <a:cubicBezTo>
                    <a:pt x="102870" y="3619500"/>
                    <a:pt x="0" y="3516630"/>
                    <a:pt x="0" y="3389757"/>
                  </a:cubicBezTo>
                  <a:close/>
                </a:path>
              </a:pathLst>
            </a:custGeom>
            <a:solidFill>
              <a:srgbClr val="F8FAFC"/>
            </a:solidFill>
            <a:ln w="14288" cap="sq">
              <a:solidFill>
                <a:srgbClr val="E2E8F0"/>
              </a:solidFill>
              <a:prstDash val="solid"/>
              <a:miter/>
            </a:ln>
          </p:spPr>
        </p:sp>
      </p:grpSp>
      <p:grpSp>
        <p:nvGrpSpPr>
          <p:cNvPr id="6" name="Group 6"/>
          <p:cNvGrpSpPr/>
          <p:nvPr/>
        </p:nvGrpSpPr>
        <p:grpSpPr>
          <a:xfrm>
            <a:off x="5107781" y="4429125"/>
            <a:ext cx="3871912" cy="2714625"/>
            <a:chOff x="0" y="0"/>
            <a:chExt cx="5162550" cy="3619500"/>
          </a:xfrm>
        </p:grpSpPr>
        <p:sp>
          <p:nvSpPr>
            <p:cNvPr id="7" name="Freeform 7"/>
            <p:cNvSpPr/>
            <p:nvPr/>
          </p:nvSpPr>
          <p:spPr>
            <a:xfrm>
              <a:off x="0" y="0"/>
              <a:ext cx="5162550" cy="3619500"/>
            </a:xfrm>
            <a:custGeom>
              <a:avLst/>
              <a:gdLst/>
              <a:ahLst/>
              <a:cxnLst/>
              <a:rect l="l" t="t" r="r" b="b"/>
              <a:pathLst>
                <a:path w="5162550" h="3619500">
                  <a:moveTo>
                    <a:pt x="0" y="229743"/>
                  </a:moveTo>
                  <a:cubicBezTo>
                    <a:pt x="0" y="102870"/>
                    <a:pt x="102870" y="0"/>
                    <a:pt x="229743" y="0"/>
                  </a:cubicBezTo>
                  <a:lnTo>
                    <a:pt x="4932807" y="0"/>
                  </a:lnTo>
                  <a:cubicBezTo>
                    <a:pt x="5059680" y="0"/>
                    <a:pt x="5162550" y="102870"/>
                    <a:pt x="5162550" y="229743"/>
                  </a:cubicBezTo>
                  <a:lnTo>
                    <a:pt x="5162550" y="3389757"/>
                  </a:lnTo>
                  <a:cubicBezTo>
                    <a:pt x="5162550" y="3516630"/>
                    <a:pt x="5059680" y="3619500"/>
                    <a:pt x="4932807" y="3619500"/>
                  </a:cubicBezTo>
                  <a:lnTo>
                    <a:pt x="229743" y="3619500"/>
                  </a:lnTo>
                  <a:cubicBezTo>
                    <a:pt x="102870" y="3619500"/>
                    <a:pt x="0" y="3516630"/>
                    <a:pt x="0" y="3389757"/>
                  </a:cubicBezTo>
                  <a:close/>
                </a:path>
              </a:pathLst>
            </a:custGeom>
            <a:solidFill>
              <a:srgbClr val="F8FAFC"/>
            </a:solidFill>
            <a:ln w="14288" cap="sq">
              <a:solidFill>
                <a:srgbClr val="E2E8F0"/>
              </a:solidFill>
              <a:prstDash val="solid"/>
              <a:miter/>
            </a:ln>
          </p:spPr>
        </p:sp>
      </p:grpSp>
      <p:grpSp>
        <p:nvGrpSpPr>
          <p:cNvPr id="8" name="Group 8"/>
          <p:cNvGrpSpPr/>
          <p:nvPr/>
        </p:nvGrpSpPr>
        <p:grpSpPr>
          <a:xfrm>
            <a:off x="9308306" y="4429125"/>
            <a:ext cx="3871912" cy="2714625"/>
            <a:chOff x="0" y="0"/>
            <a:chExt cx="5162550" cy="3619500"/>
          </a:xfrm>
        </p:grpSpPr>
        <p:sp>
          <p:nvSpPr>
            <p:cNvPr id="9" name="Freeform 9"/>
            <p:cNvSpPr/>
            <p:nvPr/>
          </p:nvSpPr>
          <p:spPr>
            <a:xfrm>
              <a:off x="0" y="0"/>
              <a:ext cx="5162550" cy="3619500"/>
            </a:xfrm>
            <a:custGeom>
              <a:avLst/>
              <a:gdLst/>
              <a:ahLst/>
              <a:cxnLst/>
              <a:rect l="l" t="t" r="r" b="b"/>
              <a:pathLst>
                <a:path w="5162550" h="3619500">
                  <a:moveTo>
                    <a:pt x="0" y="229743"/>
                  </a:moveTo>
                  <a:cubicBezTo>
                    <a:pt x="0" y="102870"/>
                    <a:pt x="102870" y="0"/>
                    <a:pt x="229743" y="0"/>
                  </a:cubicBezTo>
                  <a:lnTo>
                    <a:pt x="4932807" y="0"/>
                  </a:lnTo>
                  <a:cubicBezTo>
                    <a:pt x="5059680" y="0"/>
                    <a:pt x="5162550" y="102870"/>
                    <a:pt x="5162550" y="229743"/>
                  </a:cubicBezTo>
                  <a:lnTo>
                    <a:pt x="5162550" y="3389757"/>
                  </a:lnTo>
                  <a:cubicBezTo>
                    <a:pt x="5162550" y="3516630"/>
                    <a:pt x="5059680" y="3619500"/>
                    <a:pt x="4932807" y="3619500"/>
                  </a:cubicBezTo>
                  <a:lnTo>
                    <a:pt x="229743" y="3619500"/>
                  </a:lnTo>
                  <a:cubicBezTo>
                    <a:pt x="102870" y="3619500"/>
                    <a:pt x="0" y="3516630"/>
                    <a:pt x="0" y="3389757"/>
                  </a:cubicBezTo>
                  <a:close/>
                </a:path>
              </a:pathLst>
            </a:custGeom>
            <a:solidFill>
              <a:srgbClr val="F8FAFC"/>
            </a:solidFill>
            <a:ln w="14288" cap="sq">
              <a:solidFill>
                <a:srgbClr val="E2E8F0"/>
              </a:solidFill>
              <a:prstDash val="solid"/>
              <a:miter/>
            </a:ln>
          </p:spPr>
        </p:sp>
      </p:grpSp>
      <p:grpSp>
        <p:nvGrpSpPr>
          <p:cNvPr id="10" name="Group 10"/>
          <p:cNvGrpSpPr/>
          <p:nvPr/>
        </p:nvGrpSpPr>
        <p:grpSpPr>
          <a:xfrm>
            <a:off x="13508831" y="4429125"/>
            <a:ext cx="3871912" cy="2714625"/>
            <a:chOff x="0" y="0"/>
            <a:chExt cx="5162550" cy="3619500"/>
          </a:xfrm>
        </p:grpSpPr>
        <p:sp>
          <p:nvSpPr>
            <p:cNvPr id="11" name="Freeform 11"/>
            <p:cNvSpPr/>
            <p:nvPr/>
          </p:nvSpPr>
          <p:spPr>
            <a:xfrm>
              <a:off x="0" y="0"/>
              <a:ext cx="5162550" cy="3619500"/>
            </a:xfrm>
            <a:custGeom>
              <a:avLst/>
              <a:gdLst/>
              <a:ahLst/>
              <a:cxnLst/>
              <a:rect l="l" t="t" r="r" b="b"/>
              <a:pathLst>
                <a:path w="5162550" h="3619500">
                  <a:moveTo>
                    <a:pt x="0" y="229743"/>
                  </a:moveTo>
                  <a:cubicBezTo>
                    <a:pt x="0" y="102870"/>
                    <a:pt x="102870" y="0"/>
                    <a:pt x="229743" y="0"/>
                  </a:cubicBezTo>
                  <a:lnTo>
                    <a:pt x="4932807" y="0"/>
                  </a:lnTo>
                  <a:cubicBezTo>
                    <a:pt x="5059680" y="0"/>
                    <a:pt x="5162550" y="102870"/>
                    <a:pt x="5162550" y="229743"/>
                  </a:cubicBezTo>
                  <a:lnTo>
                    <a:pt x="5162550" y="3389757"/>
                  </a:lnTo>
                  <a:cubicBezTo>
                    <a:pt x="5162550" y="3516630"/>
                    <a:pt x="5059680" y="3619500"/>
                    <a:pt x="4932807" y="3619500"/>
                  </a:cubicBezTo>
                  <a:lnTo>
                    <a:pt x="229743" y="3619500"/>
                  </a:lnTo>
                  <a:cubicBezTo>
                    <a:pt x="102870" y="3619500"/>
                    <a:pt x="0" y="3516630"/>
                    <a:pt x="0" y="3389757"/>
                  </a:cubicBezTo>
                  <a:close/>
                </a:path>
              </a:pathLst>
            </a:custGeom>
            <a:solidFill>
              <a:srgbClr val="F8FAFC"/>
            </a:solidFill>
            <a:ln w="14288" cap="sq">
              <a:solidFill>
                <a:srgbClr val="E2E8F0"/>
              </a:solidFill>
              <a:prstDash val="solid"/>
              <a:miter/>
            </a:ln>
          </p:spPr>
        </p:sp>
      </p:grpSp>
      <p:grpSp>
        <p:nvGrpSpPr>
          <p:cNvPr id="12" name="Group 12"/>
          <p:cNvGrpSpPr/>
          <p:nvPr/>
        </p:nvGrpSpPr>
        <p:grpSpPr>
          <a:xfrm>
            <a:off x="1271588" y="5036344"/>
            <a:ext cx="328612" cy="371475"/>
            <a:chOff x="0" y="0"/>
            <a:chExt cx="438150" cy="495300"/>
          </a:xfrm>
        </p:grpSpPr>
        <p:sp>
          <p:nvSpPr>
            <p:cNvPr id="13" name="Freeform 13" descr="image.png"/>
            <p:cNvSpPr/>
            <p:nvPr/>
          </p:nvSpPr>
          <p:spPr>
            <a:xfrm>
              <a:off x="0" y="0"/>
              <a:ext cx="438150" cy="495300"/>
            </a:xfrm>
            <a:custGeom>
              <a:avLst/>
              <a:gdLst/>
              <a:ahLst/>
              <a:cxnLst/>
              <a:rect l="l" t="t" r="r" b="b"/>
              <a:pathLst>
                <a:path w="438150" h="495300">
                  <a:moveTo>
                    <a:pt x="0" y="0"/>
                  </a:moveTo>
                  <a:lnTo>
                    <a:pt x="438150" y="0"/>
                  </a:lnTo>
                  <a:lnTo>
                    <a:pt x="438150" y="495300"/>
                  </a:lnTo>
                  <a:lnTo>
                    <a:pt x="0" y="495300"/>
                  </a:lnTo>
                  <a:lnTo>
                    <a:pt x="0" y="0"/>
                  </a:lnTo>
                  <a:close/>
                </a:path>
              </a:pathLst>
            </a:custGeom>
            <a:blipFill>
              <a:blip r:embed="rId2"/>
              <a:stretch>
                <a:fillRect t="-1923" b="-1923"/>
              </a:stretch>
            </a:blipFill>
          </p:spPr>
        </p:sp>
      </p:grpSp>
      <p:grpSp>
        <p:nvGrpSpPr>
          <p:cNvPr id="14" name="Group 14"/>
          <p:cNvGrpSpPr/>
          <p:nvPr/>
        </p:nvGrpSpPr>
        <p:grpSpPr>
          <a:xfrm>
            <a:off x="5472112" y="5036344"/>
            <a:ext cx="471488" cy="371475"/>
            <a:chOff x="0" y="0"/>
            <a:chExt cx="628650" cy="495300"/>
          </a:xfrm>
        </p:grpSpPr>
        <p:sp>
          <p:nvSpPr>
            <p:cNvPr id="15" name="Freeform 15" descr="image.png"/>
            <p:cNvSpPr/>
            <p:nvPr/>
          </p:nvSpPr>
          <p:spPr>
            <a:xfrm>
              <a:off x="0" y="0"/>
              <a:ext cx="628650" cy="495300"/>
            </a:xfrm>
            <a:custGeom>
              <a:avLst/>
              <a:gdLst/>
              <a:ahLst/>
              <a:cxnLst/>
              <a:rect l="l" t="t" r="r" b="b"/>
              <a:pathLst>
                <a:path w="628650" h="495300">
                  <a:moveTo>
                    <a:pt x="0" y="0"/>
                  </a:moveTo>
                  <a:lnTo>
                    <a:pt x="628650" y="0"/>
                  </a:lnTo>
                  <a:lnTo>
                    <a:pt x="628650" y="495300"/>
                  </a:lnTo>
                  <a:lnTo>
                    <a:pt x="0" y="495300"/>
                  </a:lnTo>
                  <a:lnTo>
                    <a:pt x="0" y="0"/>
                  </a:lnTo>
                  <a:close/>
                </a:path>
              </a:pathLst>
            </a:custGeom>
            <a:blipFill>
              <a:blip r:embed="rId3"/>
              <a:stretch>
                <a:fillRect t="-394" b="-397"/>
              </a:stretch>
            </a:blipFill>
          </p:spPr>
        </p:sp>
      </p:grpSp>
      <p:grpSp>
        <p:nvGrpSpPr>
          <p:cNvPr id="16" name="Group 16"/>
          <p:cNvGrpSpPr/>
          <p:nvPr/>
        </p:nvGrpSpPr>
        <p:grpSpPr>
          <a:xfrm>
            <a:off x="9672638" y="4850606"/>
            <a:ext cx="371475" cy="371475"/>
            <a:chOff x="0" y="0"/>
            <a:chExt cx="495300" cy="495300"/>
          </a:xfrm>
        </p:grpSpPr>
        <p:sp>
          <p:nvSpPr>
            <p:cNvPr id="17" name="Freeform 17" descr="image.png"/>
            <p:cNvSpPr/>
            <p:nvPr/>
          </p:nvSpPr>
          <p:spPr>
            <a:xfrm>
              <a:off x="0" y="0"/>
              <a:ext cx="495300" cy="495300"/>
            </a:xfrm>
            <a:custGeom>
              <a:avLst/>
              <a:gdLst/>
              <a:ahLst/>
              <a:cxnLst/>
              <a:rect l="l" t="t" r="r" b="b"/>
              <a:pathLst>
                <a:path w="495300" h="495300">
                  <a:moveTo>
                    <a:pt x="0" y="0"/>
                  </a:moveTo>
                  <a:lnTo>
                    <a:pt x="495300" y="0"/>
                  </a:lnTo>
                  <a:lnTo>
                    <a:pt x="495300" y="495300"/>
                  </a:lnTo>
                  <a:lnTo>
                    <a:pt x="0" y="495300"/>
                  </a:lnTo>
                  <a:lnTo>
                    <a:pt x="0" y="0"/>
                  </a:lnTo>
                  <a:close/>
                </a:path>
              </a:pathLst>
            </a:custGeom>
            <a:blipFill>
              <a:blip r:embed="rId4"/>
              <a:stretch>
                <a:fillRect t="-1923" b="-1923"/>
              </a:stretch>
            </a:blipFill>
          </p:spPr>
        </p:sp>
      </p:grpSp>
      <p:grpSp>
        <p:nvGrpSpPr>
          <p:cNvPr id="18" name="Group 18"/>
          <p:cNvGrpSpPr/>
          <p:nvPr/>
        </p:nvGrpSpPr>
        <p:grpSpPr>
          <a:xfrm>
            <a:off x="13873162" y="4850606"/>
            <a:ext cx="414338" cy="371475"/>
            <a:chOff x="0" y="0"/>
            <a:chExt cx="552450" cy="495300"/>
          </a:xfrm>
        </p:grpSpPr>
        <p:sp>
          <p:nvSpPr>
            <p:cNvPr id="19" name="Freeform 19" descr="image.png"/>
            <p:cNvSpPr/>
            <p:nvPr/>
          </p:nvSpPr>
          <p:spPr>
            <a:xfrm>
              <a:off x="0" y="0"/>
              <a:ext cx="552450" cy="495300"/>
            </a:xfrm>
            <a:custGeom>
              <a:avLst/>
              <a:gdLst/>
              <a:ahLst/>
              <a:cxnLst/>
              <a:rect l="l" t="t" r="r" b="b"/>
              <a:pathLst>
                <a:path w="552450" h="495300">
                  <a:moveTo>
                    <a:pt x="0" y="0"/>
                  </a:moveTo>
                  <a:lnTo>
                    <a:pt x="552450" y="0"/>
                  </a:lnTo>
                  <a:lnTo>
                    <a:pt x="552450" y="495300"/>
                  </a:lnTo>
                  <a:lnTo>
                    <a:pt x="0" y="495300"/>
                  </a:lnTo>
                  <a:lnTo>
                    <a:pt x="0" y="0"/>
                  </a:lnTo>
                  <a:close/>
                </a:path>
              </a:pathLst>
            </a:custGeom>
            <a:blipFill>
              <a:blip r:embed="rId5"/>
              <a:stretch>
                <a:fillRect t="-192" b="-192"/>
              </a:stretch>
            </a:blipFill>
          </p:spPr>
        </p:sp>
      </p:grpSp>
      <p:sp>
        <p:nvSpPr>
          <p:cNvPr id="20" name="TextBox 20"/>
          <p:cNvSpPr txBox="1"/>
          <p:nvPr/>
        </p:nvSpPr>
        <p:spPr>
          <a:xfrm>
            <a:off x="914400" y="885825"/>
            <a:ext cx="4695587" cy="628650"/>
          </a:xfrm>
          <a:prstGeom prst="rect">
            <a:avLst/>
          </a:prstGeom>
        </p:spPr>
        <p:txBody>
          <a:bodyPr lIns="0" tIns="0" rIns="0" bIns="0" rtlCol="0" anchor="t">
            <a:spAutoFit/>
          </a:bodyPr>
          <a:lstStyle/>
          <a:p>
            <a:pPr algn="l">
              <a:lnSpc>
                <a:spcPts val="4320"/>
              </a:lnSpc>
            </a:pPr>
            <a:r>
              <a:rPr lang="en-US" sz="3600" b="1">
                <a:solidFill>
                  <a:srgbClr val="0F172A"/>
                </a:solidFill>
                <a:latin typeface="Arimo Bold"/>
                <a:ea typeface="Arimo Bold"/>
                <a:cs typeface="Arimo Bold"/>
                <a:sym typeface="Arimo Bold"/>
              </a:rPr>
              <a:t>TECHNOLOGY USED</a:t>
            </a:r>
          </a:p>
        </p:txBody>
      </p:sp>
      <p:sp>
        <p:nvSpPr>
          <p:cNvPr id="21" name="TextBox 21"/>
          <p:cNvSpPr txBox="1"/>
          <p:nvPr/>
        </p:nvSpPr>
        <p:spPr>
          <a:xfrm>
            <a:off x="1271588" y="5793581"/>
            <a:ext cx="3929062" cy="300038"/>
          </a:xfrm>
          <a:prstGeom prst="rect">
            <a:avLst/>
          </a:prstGeom>
        </p:spPr>
        <p:txBody>
          <a:bodyPr lIns="0" tIns="0" rIns="0" bIns="0" rtlCol="0" anchor="t">
            <a:spAutoFit/>
          </a:bodyPr>
          <a:lstStyle/>
          <a:p>
            <a:pPr algn="l">
              <a:lnSpc>
                <a:spcPts val="2160"/>
              </a:lnSpc>
            </a:pPr>
            <a:r>
              <a:rPr lang="en-US" sz="1800" b="1">
                <a:solidFill>
                  <a:srgbClr val="334155"/>
                </a:solidFill>
                <a:latin typeface="Inter Bold"/>
                <a:ea typeface="Inter Bold"/>
                <a:cs typeface="Inter Bold"/>
                <a:sym typeface="Inter Bold"/>
              </a:rPr>
              <a:t>Python 3.x</a:t>
            </a:r>
          </a:p>
        </p:txBody>
      </p:sp>
      <p:sp>
        <p:nvSpPr>
          <p:cNvPr id="22" name="TextBox 22"/>
          <p:cNvSpPr txBox="1"/>
          <p:nvPr/>
        </p:nvSpPr>
        <p:spPr>
          <a:xfrm>
            <a:off x="1271588" y="6179344"/>
            <a:ext cx="3286125" cy="542925"/>
          </a:xfrm>
          <a:prstGeom prst="rect">
            <a:avLst/>
          </a:prstGeom>
        </p:spPr>
        <p:txBody>
          <a:bodyPr lIns="0" tIns="0" rIns="0" bIns="0" rtlCol="0" anchor="t">
            <a:spAutoFit/>
          </a:bodyPr>
          <a:lstStyle/>
          <a:p>
            <a:pPr algn="l">
              <a:lnSpc>
                <a:spcPts val="2025"/>
              </a:lnSpc>
            </a:pPr>
            <a:r>
              <a:rPr lang="en-US" sz="1687">
                <a:solidFill>
                  <a:srgbClr val="64748B"/>
                </a:solidFill>
                <a:latin typeface="Inter"/>
                <a:ea typeface="Inter"/>
                <a:cs typeface="Inter"/>
                <a:sym typeface="Inter"/>
              </a:rPr>
              <a:t>Standard open-source data science language</a:t>
            </a:r>
          </a:p>
        </p:txBody>
      </p:sp>
      <p:sp>
        <p:nvSpPr>
          <p:cNvPr id="23" name="TextBox 23"/>
          <p:cNvSpPr txBox="1"/>
          <p:nvPr/>
        </p:nvSpPr>
        <p:spPr>
          <a:xfrm>
            <a:off x="5472112" y="5793581"/>
            <a:ext cx="3929062" cy="300038"/>
          </a:xfrm>
          <a:prstGeom prst="rect">
            <a:avLst/>
          </a:prstGeom>
        </p:spPr>
        <p:txBody>
          <a:bodyPr lIns="0" tIns="0" rIns="0" bIns="0" rtlCol="0" anchor="t">
            <a:spAutoFit/>
          </a:bodyPr>
          <a:lstStyle/>
          <a:p>
            <a:pPr algn="l">
              <a:lnSpc>
                <a:spcPts val="2160"/>
              </a:lnSpc>
            </a:pPr>
            <a:r>
              <a:rPr lang="en-US" sz="1800" b="1">
                <a:solidFill>
                  <a:srgbClr val="334155"/>
                </a:solidFill>
                <a:latin typeface="Inter Bold"/>
                <a:ea typeface="Inter Bold"/>
                <a:cs typeface="Inter Bold"/>
                <a:sym typeface="Inter Bold"/>
              </a:rPr>
              <a:t>Google Colab / Jupyter</a:t>
            </a:r>
          </a:p>
        </p:txBody>
      </p:sp>
      <p:sp>
        <p:nvSpPr>
          <p:cNvPr id="24" name="TextBox 24"/>
          <p:cNvSpPr txBox="1"/>
          <p:nvPr/>
        </p:nvSpPr>
        <p:spPr>
          <a:xfrm>
            <a:off x="5472112" y="6179344"/>
            <a:ext cx="3286125" cy="542925"/>
          </a:xfrm>
          <a:prstGeom prst="rect">
            <a:avLst/>
          </a:prstGeom>
        </p:spPr>
        <p:txBody>
          <a:bodyPr lIns="0" tIns="0" rIns="0" bIns="0" rtlCol="0" anchor="t">
            <a:spAutoFit/>
          </a:bodyPr>
          <a:lstStyle/>
          <a:p>
            <a:pPr algn="l">
              <a:lnSpc>
                <a:spcPts val="2025"/>
              </a:lnSpc>
            </a:pPr>
            <a:r>
              <a:rPr lang="en-US" sz="1687">
                <a:solidFill>
                  <a:srgbClr val="64748B"/>
                </a:solidFill>
                <a:latin typeface="Inter"/>
                <a:ea typeface="Inter"/>
                <a:cs typeface="Inter"/>
                <a:sym typeface="Inter"/>
              </a:rPr>
              <a:t>Cloud-hosted runtime notebook environment</a:t>
            </a:r>
          </a:p>
        </p:txBody>
      </p:sp>
      <p:sp>
        <p:nvSpPr>
          <p:cNvPr id="25" name="TextBox 25"/>
          <p:cNvSpPr txBox="1"/>
          <p:nvPr/>
        </p:nvSpPr>
        <p:spPr>
          <a:xfrm>
            <a:off x="9672638" y="5422106"/>
            <a:ext cx="3929062" cy="300038"/>
          </a:xfrm>
          <a:prstGeom prst="rect">
            <a:avLst/>
          </a:prstGeom>
        </p:spPr>
        <p:txBody>
          <a:bodyPr lIns="0" tIns="0" rIns="0" bIns="0" rtlCol="0" anchor="t">
            <a:spAutoFit/>
          </a:bodyPr>
          <a:lstStyle/>
          <a:p>
            <a:pPr algn="l">
              <a:lnSpc>
                <a:spcPts val="2160"/>
              </a:lnSpc>
            </a:pPr>
            <a:r>
              <a:rPr lang="en-US" sz="1800" b="1">
                <a:solidFill>
                  <a:srgbClr val="334155"/>
                </a:solidFill>
                <a:latin typeface="Inter Bold"/>
                <a:ea typeface="Inter Bold"/>
                <a:cs typeface="Inter Bold"/>
                <a:sym typeface="Inter Bold"/>
              </a:rPr>
              <a:t>pandas &amp; numpy</a:t>
            </a:r>
          </a:p>
        </p:txBody>
      </p:sp>
      <p:sp>
        <p:nvSpPr>
          <p:cNvPr id="26" name="TextBox 26"/>
          <p:cNvSpPr txBox="1"/>
          <p:nvPr/>
        </p:nvSpPr>
        <p:spPr>
          <a:xfrm>
            <a:off x="9672638" y="5807869"/>
            <a:ext cx="3286125" cy="542925"/>
          </a:xfrm>
          <a:prstGeom prst="rect">
            <a:avLst/>
          </a:prstGeom>
        </p:spPr>
        <p:txBody>
          <a:bodyPr lIns="0" tIns="0" rIns="0" bIns="0" rtlCol="0" anchor="t">
            <a:spAutoFit/>
          </a:bodyPr>
          <a:lstStyle/>
          <a:p>
            <a:pPr algn="l">
              <a:lnSpc>
                <a:spcPts val="2025"/>
              </a:lnSpc>
            </a:pPr>
            <a:r>
              <a:rPr lang="en-US" sz="1687">
                <a:solidFill>
                  <a:srgbClr val="64748B"/>
                </a:solidFill>
                <a:latin typeface="Inter"/>
                <a:ea typeface="Inter"/>
                <a:cs typeface="Inter"/>
                <a:sym typeface="Inter"/>
              </a:rPr>
              <a:t>Dataframe aggregations, null audits &amp; matrix math</a:t>
            </a:r>
          </a:p>
        </p:txBody>
      </p:sp>
      <p:sp>
        <p:nvSpPr>
          <p:cNvPr id="27" name="TextBox 27"/>
          <p:cNvSpPr txBox="1"/>
          <p:nvPr/>
        </p:nvSpPr>
        <p:spPr>
          <a:xfrm>
            <a:off x="13873162" y="5422106"/>
            <a:ext cx="3929062" cy="300038"/>
          </a:xfrm>
          <a:prstGeom prst="rect">
            <a:avLst/>
          </a:prstGeom>
        </p:spPr>
        <p:txBody>
          <a:bodyPr lIns="0" tIns="0" rIns="0" bIns="0" rtlCol="0" anchor="t">
            <a:spAutoFit/>
          </a:bodyPr>
          <a:lstStyle/>
          <a:p>
            <a:pPr algn="l">
              <a:lnSpc>
                <a:spcPts val="2160"/>
              </a:lnSpc>
            </a:pPr>
            <a:r>
              <a:rPr lang="en-US" sz="1800" b="1">
                <a:solidFill>
                  <a:srgbClr val="334155"/>
                </a:solidFill>
                <a:latin typeface="Inter Bold"/>
                <a:ea typeface="Inter Bold"/>
                <a:cs typeface="Inter Bold"/>
                <a:sym typeface="Inter Bold"/>
              </a:rPr>
              <a:t>matplotlib &amp; seaborn</a:t>
            </a:r>
          </a:p>
        </p:txBody>
      </p:sp>
      <p:sp>
        <p:nvSpPr>
          <p:cNvPr id="28" name="TextBox 28"/>
          <p:cNvSpPr txBox="1"/>
          <p:nvPr/>
        </p:nvSpPr>
        <p:spPr>
          <a:xfrm>
            <a:off x="13873162" y="5807869"/>
            <a:ext cx="3286125" cy="542925"/>
          </a:xfrm>
          <a:prstGeom prst="rect">
            <a:avLst/>
          </a:prstGeom>
        </p:spPr>
        <p:txBody>
          <a:bodyPr lIns="0" tIns="0" rIns="0" bIns="0" rtlCol="0" anchor="t">
            <a:spAutoFit/>
          </a:bodyPr>
          <a:lstStyle/>
          <a:p>
            <a:pPr algn="l">
              <a:lnSpc>
                <a:spcPts val="2025"/>
              </a:lnSpc>
            </a:pPr>
            <a:r>
              <a:rPr lang="en-US" sz="1687">
                <a:solidFill>
                  <a:srgbClr val="64748B"/>
                </a:solidFill>
                <a:latin typeface="Inter"/>
                <a:ea typeface="Inter"/>
                <a:cs typeface="Inter"/>
                <a:sym typeface="Inter"/>
              </a:rPr>
              <a:t>Countplots, regression lines, and correlation heatmaps</a:t>
            </a:r>
          </a:p>
        </p:txBody>
      </p:sp>
      <p:sp>
        <p:nvSpPr>
          <p:cNvPr id="29" name="TextBox 29"/>
          <p:cNvSpPr txBox="1"/>
          <p:nvPr/>
        </p:nvSpPr>
        <p:spPr>
          <a:xfrm>
            <a:off x="1771650" y="4831556"/>
            <a:ext cx="2925366" cy="762000"/>
          </a:xfrm>
          <a:prstGeom prst="rect">
            <a:avLst/>
          </a:prstGeom>
        </p:spPr>
        <p:txBody>
          <a:bodyPr lIns="0" tIns="0" rIns="0" bIns="0" rtlCol="0" anchor="t">
            <a:spAutoFit/>
          </a:bodyPr>
          <a:lstStyle/>
          <a:p>
            <a:pPr algn="l">
              <a:lnSpc>
                <a:spcPts val="2700"/>
              </a:lnSpc>
            </a:pPr>
            <a:r>
              <a:rPr lang="en-US" sz="2250" b="1">
                <a:solidFill>
                  <a:srgbClr val="0F172A"/>
                </a:solidFill>
                <a:latin typeface="Arimo Bold"/>
                <a:ea typeface="Arimo Bold"/>
                <a:cs typeface="Arimo Bold"/>
                <a:sym typeface="Arimo Bold"/>
              </a:rPr>
              <a:t>Programming Language</a:t>
            </a:r>
          </a:p>
        </p:txBody>
      </p:sp>
      <p:sp>
        <p:nvSpPr>
          <p:cNvPr id="30" name="TextBox 30"/>
          <p:cNvSpPr txBox="1"/>
          <p:nvPr/>
        </p:nvSpPr>
        <p:spPr>
          <a:xfrm>
            <a:off x="6115050" y="4831556"/>
            <a:ext cx="2775347" cy="762000"/>
          </a:xfrm>
          <a:prstGeom prst="rect">
            <a:avLst/>
          </a:prstGeom>
        </p:spPr>
        <p:txBody>
          <a:bodyPr lIns="0" tIns="0" rIns="0" bIns="0" rtlCol="0" anchor="t">
            <a:spAutoFit/>
          </a:bodyPr>
          <a:lstStyle/>
          <a:p>
            <a:pPr algn="l">
              <a:lnSpc>
                <a:spcPts val="2700"/>
              </a:lnSpc>
            </a:pPr>
            <a:r>
              <a:rPr lang="en-US" sz="2250" b="1">
                <a:solidFill>
                  <a:srgbClr val="0F172A"/>
                </a:solidFill>
                <a:latin typeface="Arimo Bold"/>
                <a:ea typeface="Arimo Bold"/>
                <a:cs typeface="Arimo Bold"/>
                <a:sym typeface="Arimo Bold"/>
              </a:rPr>
              <a:t>Development Environment</a:t>
            </a:r>
          </a:p>
        </p:txBody>
      </p:sp>
      <p:sp>
        <p:nvSpPr>
          <p:cNvPr id="31" name="TextBox 31"/>
          <p:cNvSpPr txBox="1"/>
          <p:nvPr/>
        </p:nvSpPr>
        <p:spPr>
          <a:xfrm>
            <a:off x="10215562" y="4831556"/>
            <a:ext cx="3300412" cy="390525"/>
          </a:xfrm>
          <a:prstGeom prst="rect">
            <a:avLst/>
          </a:prstGeom>
        </p:spPr>
        <p:txBody>
          <a:bodyPr lIns="0" tIns="0" rIns="0" bIns="0" rtlCol="0" anchor="t">
            <a:spAutoFit/>
          </a:bodyPr>
          <a:lstStyle/>
          <a:p>
            <a:pPr algn="l">
              <a:lnSpc>
                <a:spcPts val="2700"/>
              </a:lnSpc>
            </a:pPr>
            <a:r>
              <a:rPr lang="en-US" sz="2250" b="1">
                <a:solidFill>
                  <a:srgbClr val="0F172A"/>
                </a:solidFill>
                <a:latin typeface="Arimo Bold"/>
                <a:ea typeface="Arimo Bold"/>
                <a:cs typeface="Arimo Bold"/>
                <a:sym typeface="Arimo Bold"/>
              </a:rPr>
              <a:t>Data Manipulation</a:t>
            </a:r>
          </a:p>
        </p:txBody>
      </p:sp>
      <p:sp>
        <p:nvSpPr>
          <p:cNvPr id="32" name="TextBox 32"/>
          <p:cNvSpPr txBox="1"/>
          <p:nvPr/>
        </p:nvSpPr>
        <p:spPr>
          <a:xfrm>
            <a:off x="14458950" y="4831556"/>
            <a:ext cx="3187894" cy="390525"/>
          </a:xfrm>
          <a:prstGeom prst="rect">
            <a:avLst/>
          </a:prstGeom>
        </p:spPr>
        <p:txBody>
          <a:bodyPr lIns="0" tIns="0" rIns="0" bIns="0" rtlCol="0" anchor="t">
            <a:spAutoFit/>
          </a:bodyPr>
          <a:lstStyle/>
          <a:p>
            <a:pPr algn="l">
              <a:lnSpc>
                <a:spcPts val="2700"/>
              </a:lnSpc>
            </a:pPr>
            <a:r>
              <a:rPr lang="en-US" sz="2250" b="1">
                <a:solidFill>
                  <a:srgbClr val="0F172A"/>
                </a:solidFill>
                <a:latin typeface="Arimo Bold"/>
                <a:ea typeface="Arimo Bold"/>
                <a:cs typeface="Arimo Bold"/>
                <a:sym typeface="Arimo Bold"/>
              </a:rPr>
              <a:t>Data Visualization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 y="1600200"/>
            <a:ext cx="9115425" cy="28575"/>
            <a:chOff x="0" y="0"/>
            <a:chExt cx="12153900" cy="38100"/>
          </a:xfrm>
        </p:grpSpPr>
        <p:sp>
          <p:nvSpPr>
            <p:cNvPr id="3" name="Freeform 3"/>
            <p:cNvSpPr/>
            <p:nvPr/>
          </p:nvSpPr>
          <p:spPr>
            <a:xfrm>
              <a:off x="0" y="0"/>
              <a:ext cx="12153900" cy="38100"/>
            </a:xfrm>
            <a:custGeom>
              <a:avLst/>
              <a:gdLst/>
              <a:ahLst/>
              <a:cxnLst/>
              <a:rect l="l" t="t" r="r" b="b"/>
              <a:pathLst>
                <a:path w="12153900" h="38100">
                  <a:moveTo>
                    <a:pt x="0" y="0"/>
                  </a:moveTo>
                  <a:lnTo>
                    <a:pt x="12153900" y="0"/>
                  </a:lnTo>
                  <a:lnTo>
                    <a:pt x="12153900" y="38100"/>
                  </a:lnTo>
                  <a:lnTo>
                    <a:pt x="0" y="38100"/>
                  </a:lnTo>
                  <a:close/>
                </a:path>
              </a:pathLst>
            </a:custGeom>
            <a:solidFill>
              <a:srgbClr val="0284C7"/>
            </a:solidFill>
          </p:spPr>
        </p:sp>
      </p:grpSp>
      <p:grpSp>
        <p:nvGrpSpPr>
          <p:cNvPr id="4" name="Group 4"/>
          <p:cNvGrpSpPr/>
          <p:nvPr/>
        </p:nvGrpSpPr>
        <p:grpSpPr>
          <a:xfrm>
            <a:off x="9786938" y="3779263"/>
            <a:ext cx="7586662" cy="2688727"/>
            <a:chOff x="0" y="0"/>
            <a:chExt cx="10115550" cy="3584969"/>
          </a:xfrm>
        </p:grpSpPr>
        <p:sp>
          <p:nvSpPr>
            <p:cNvPr id="5" name="Freeform 5"/>
            <p:cNvSpPr/>
            <p:nvPr/>
          </p:nvSpPr>
          <p:spPr>
            <a:xfrm>
              <a:off x="0" y="0"/>
              <a:ext cx="10115550" cy="3584956"/>
            </a:xfrm>
            <a:custGeom>
              <a:avLst/>
              <a:gdLst/>
              <a:ahLst/>
              <a:cxnLst/>
              <a:rect l="l" t="t" r="r" b="b"/>
              <a:pathLst>
                <a:path w="10115550" h="3584956">
                  <a:moveTo>
                    <a:pt x="0" y="228600"/>
                  </a:moveTo>
                  <a:cubicBezTo>
                    <a:pt x="0" y="102362"/>
                    <a:pt x="102362" y="0"/>
                    <a:pt x="228600" y="0"/>
                  </a:cubicBezTo>
                  <a:lnTo>
                    <a:pt x="9886950" y="0"/>
                  </a:lnTo>
                  <a:cubicBezTo>
                    <a:pt x="10013188" y="0"/>
                    <a:pt x="10115550" y="102362"/>
                    <a:pt x="10115550" y="228600"/>
                  </a:cubicBezTo>
                  <a:lnTo>
                    <a:pt x="10115550" y="3356356"/>
                  </a:lnTo>
                  <a:cubicBezTo>
                    <a:pt x="10115550" y="3482594"/>
                    <a:pt x="10013188" y="3584956"/>
                    <a:pt x="9886950" y="3584956"/>
                  </a:cubicBezTo>
                  <a:lnTo>
                    <a:pt x="228600" y="3584956"/>
                  </a:lnTo>
                  <a:cubicBezTo>
                    <a:pt x="102362" y="3584956"/>
                    <a:pt x="0" y="3482594"/>
                    <a:pt x="0" y="3356356"/>
                  </a:cubicBezTo>
                  <a:close/>
                </a:path>
              </a:pathLst>
            </a:custGeom>
            <a:solidFill>
              <a:srgbClr val="F0F9FF"/>
            </a:solidFill>
          </p:spPr>
        </p:sp>
      </p:grpSp>
      <p:grpSp>
        <p:nvGrpSpPr>
          <p:cNvPr id="6" name="Group 6"/>
          <p:cNvGrpSpPr/>
          <p:nvPr/>
        </p:nvGrpSpPr>
        <p:grpSpPr>
          <a:xfrm>
            <a:off x="9786938" y="3779263"/>
            <a:ext cx="71438" cy="2688727"/>
            <a:chOff x="0" y="0"/>
            <a:chExt cx="95250" cy="3584969"/>
          </a:xfrm>
        </p:grpSpPr>
        <p:sp>
          <p:nvSpPr>
            <p:cNvPr id="7" name="Freeform 7"/>
            <p:cNvSpPr/>
            <p:nvPr/>
          </p:nvSpPr>
          <p:spPr>
            <a:xfrm>
              <a:off x="0" y="0"/>
              <a:ext cx="95250" cy="3584956"/>
            </a:xfrm>
            <a:custGeom>
              <a:avLst/>
              <a:gdLst/>
              <a:ahLst/>
              <a:cxnLst/>
              <a:rect l="l" t="t" r="r" b="b"/>
              <a:pathLst>
                <a:path w="95250" h="3584956">
                  <a:moveTo>
                    <a:pt x="0" y="0"/>
                  </a:moveTo>
                  <a:lnTo>
                    <a:pt x="95250" y="0"/>
                  </a:lnTo>
                  <a:lnTo>
                    <a:pt x="95250" y="3584956"/>
                  </a:lnTo>
                  <a:lnTo>
                    <a:pt x="0" y="3584956"/>
                  </a:lnTo>
                  <a:close/>
                </a:path>
              </a:pathLst>
            </a:custGeom>
            <a:solidFill>
              <a:srgbClr val="0284C7"/>
            </a:solidFill>
          </p:spPr>
        </p:sp>
      </p:grpSp>
      <p:sp>
        <p:nvSpPr>
          <p:cNvPr id="8" name="Freeform 8"/>
          <p:cNvSpPr/>
          <p:nvPr/>
        </p:nvSpPr>
        <p:spPr>
          <a:xfrm>
            <a:off x="160545" y="3779263"/>
            <a:ext cx="9283493" cy="4565079"/>
          </a:xfrm>
          <a:custGeom>
            <a:avLst/>
            <a:gdLst/>
            <a:ahLst/>
            <a:cxnLst/>
            <a:rect l="l" t="t" r="r" b="b"/>
            <a:pathLst>
              <a:path w="9283493" h="4565079">
                <a:moveTo>
                  <a:pt x="0" y="0"/>
                </a:moveTo>
                <a:lnTo>
                  <a:pt x="9283492" y="0"/>
                </a:lnTo>
                <a:lnTo>
                  <a:pt x="9283492" y="4565079"/>
                </a:lnTo>
                <a:lnTo>
                  <a:pt x="0" y="4565079"/>
                </a:lnTo>
                <a:lnTo>
                  <a:pt x="0" y="0"/>
                </a:lnTo>
                <a:close/>
              </a:path>
            </a:pathLst>
          </a:custGeom>
          <a:blipFill>
            <a:blip r:embed="rId2"/>
            <a:stretch>
              <a:fillRect b="-189"/>
            </a:stretch>
          </a:blipFill>
        </p:spPr>
      </p:sp>
      <p:sp>
        <p:nvSpPr>
          <p:cNvPr id="9" name="TextBox 9"/>
          <p:cNvSpPr txBox="1"/>
          <p:nvPr/>
        </p:nvSpPr>
        <p:spPr>
          <a:xfrm>
            <a:off x="914400" y="885825"/>
            <a:ext cx="9721215" cy="628650"/>
          </a:xfrm>
          <a:prstGeom prst="rect">
            <a:avLst/>
          </a:prstGeom>
        </p:spPr>
        <p:txBody>
          <a:bodyPr lIns="0" tIns="0" rIns="0" bIns="0" rtlCol="0" anchor="t">
            <a:spAutoFit/>
          </a:bodyPr>
          <a:lstStyle/>
          <a:p>
            <a:pPr algn="l">
              <a:lnSpc>
                <a:spcPts val="4320"/>
              </a:lnSpc>
            </a:pPr>
            <a:r>
              <a:rPr lang="en-US" sz="3600" b="1">
                <a:solidFill>
                  <a:srgbClr val="0F172A"/>
                </a:solidFill>
                <a:latin typeface="Arimo Bold"/>
                <a:ea typeface="Arimo Bold"/>
                <a:cs typeface="Arimo Bold"/>
                <a:sym typeface="Arimo Bold"/>
              </a:rPr>
              <a:t>PLOT 1: DISTRIBUTION OF DOCTOR VISITS</a:t>
            </a:r>
          </a:p>
        </p:txBody>
      </p:sp>
      <p:sp>
        <p:nvSpPr>
          <p:cNvPr id="10" name="TextBox 10"/>
          <p:cNvSpPr txBox="1"/>
          <p:nvPr/>
        </p:nvSpPr>
        <p:spPr>
          <a:xfrm>
            <a:off x="9786938" y="6629924"/>
            <a:ext cx="7729538" cy="1163688"/>
          </a:xfrm>
          <a:prstGeom prst="rect">
            <a:avLst/>
          </a:prstGeom>
        </p:spPr>
        <p:txBody>
          <a:bodyPr lIns="0" tIns="0" rIns="0" bIns="0" rtlCol="0" anchor="t">
            <a:spAutoFit/>
          </a:bodyPr>
          <a:lstStyle/>
          <a:p>
            <a:pPr algn="l">
              <a:lnSpc>
                <a:spcPts val="2880"/>
              </a:lnSpc>
            </a:pPr>
            <a:r>
              <a:rPr lang="en-US" sz="1800">
                <a:solidFill>
                  <a:srgbClr val="475569"/>
                </a:solidFill>
                <a:latin typeface="Inter"/>
                <a:ea typeface="Inter"/>
                <a:cs typeface="Inter"/>
                <a:sym typeface="Inter"/>
              </a:rPr>
              <a:t>This demonstrates that standard linear regression is unsuited for this problem; Poisson or Zero-Inflated Negative Binomial models are technically required for predictive deployment.</a:t>
            </a:r>
          </a:p>
        </p:txBody>
      </p:sp>
      <p:sp>
        <p:nvSpPr>
          <p:cNvPr id="11" name="TextBox 11"/>
          <p:cNvSpPr txBox="1"/>
          <p:nvPr/>
        </p:nvSpPr>
        <p:spPr>
          <a:xfrm>
            <a:off x="10201275" y="4122163"/>
            <a:ext cx="8086725" cy="271462"/>
          </a:xfrm>
          <a:prstGeom prst="rect">
            <a:avLst/>
          </a:prstGeom>
        </p:spPr>
        <p:txBody>
          <a:bodyPr lIns="0" tIns="0" rIns="0" bIns="0" rtlCol="0" anchor="t">
            <a:spAutoFit/>
          </a:bodyPr>
          <a:lstStyle/>
          <a:p>
            <a:pPr algn="l">
              <a:lnSpc>
                <a:spcPts val="2025"/>
              </a:lnSpc>
            </a:pPr>
            <a:r>
              <a:rPr lang="en-US" sz="1687" b="1">
                <a:solidFill>
                  <a:srgbClr val="0369A1"/>
                </a:solidFill>
                <a:latin typeface="Inter Bold"/>
                <a:ea typeface="Inter Bold"/>
                <a:cs typeface="Inter Bold"/>
                <a:sym typeface="Inter Bold"/>
              </a:rPr>
              <a:t>ANALYTICAL RESULT</a:t>
            </a:r>
          </a:p>
        </p:txBody>
      </p:sp>
      <p:sp>
        <p:nvSpPr>
          <p:cNvPr id="12" name="TextBox 12"/>
          <p:cNvSpPr txBox="1"/>
          <p:nvPr/>
        </p:nvSpPr>
        <p:spPr>
          <a:xfrm>
            <a:off x="10201275" y="4393625"/>
            <a:ext cx="6972300" cy="1731464"/>
          </a:xfrm>
          <a:prstGeom prst="rect">
            <a:avLst/>
          </a:prstGeom>
        </p:spPr>
        <p:txBody>
          <a:bodyPr lIns="0" tIns="0" rIns="0" bIns="0" rtlCol="0" anchor="t">
            <a:spAutoFit/>
          </a:bodyPr>
          <a:lstStyle/>
          <a:p>
            <a:pPr algn="l">
              <a:lnSpc>
                <a:spcPts val="3240"/>
              </a:lnSpc>
            </a:pPr>
            <a:r>
              <a:rPr lang="en-US" sz="2025" b="1">
                <a:solidFill>
                  <a:srgbClr val="0F172A"/>
                </a:solidFill>
                <a:latin typeface="Inter Bold"/>
                <a:ea typeface="Inter Bold"/>
                <a:cs typeface="Inter Bold"/>
                <a:sym typeface="Inter Bold"/>
              </a:rPr>
              <a:t>Result:</a:t>
            </a:r>
            <a:r>
              <a:rPr lang="en-US" sz="2025">
                <a:solidFill>
                  <a:srgbClr val="0F172A"/>
                </a:solidFill>
                <a:latin typeface="Inter"/>
                <a:ea typeface="Inter"/>
                <a:cs typeface="Inter"/>
                <a:sym typeface="Inter"/>
              </a:rPr>
              <a:t> Doctor visits exhibit severe zero-inflation, with </a:t>
            </a:r>
            <a:r>
              <a:rPr lang="en-US" sz="2025" b="1">
                <a:solidFill>
                  <a:srgbClr val="0F172A"/>
                </a:solidFill>
                <a:latin typeface="Inter Bold"/>
                <a:ea typeface="Inter Bold"/>
                <a:cs typeface="Inter Bold"/>
                <a:sym typeface="Inter Bold"/>
              </a:rPr>
              <a:t>79.8%</a:t>
            </a:r>
            <a:r>
              <a:rPr lang="en-US" sz="2025">
                <a:solidFill>
                  <a:srgbClr val="0F172A"/>
                </a:solidFill>
                <a:latin typeface="Inter"/>
                <a:ea typeface="Inter"/>
                <a:cs typeface="Inter"/>
                <a:sym typeface="Inter"/>
              </a:rPr>
              <a:t> of respondents reporting zero visits. Only </a:t>
            </a:r>
            <a:r>
              <a:rPr lang="en-US" sz="2025" b="1">
                <a:solidFill>
                  <a:srgbClr val="0F172A"/>
                </a:solidFill>
                <a:latin typeface="Inter Bold"/>
                <a:ea typeface="Inter Bold"/>
                <a:cs typeface="Inter Bold"/>
                <a:sym typeface="Inter Bold"/>
              </a:rPr>
              <a:t>20.2%</a:t>
            </a:r>
            <a:r>
              <a:rPr lang="en-US" sz="2025">
                <a:solidFill>
                  <a:srgbClr val="0F172A"/>
                </a:solidFill>
                <a:latin typeface="Inter"/>
                <a:ea typeface="Inter"/>
                <a:cs typeface="Inter"/>
                <a:sym typeface="Inter"/>
              </a:rPr>
              <a:t> of individuals account for the entire outpatient consultation volume.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 y="1600200"/>
            <a:ext cx="9686925" cy="28575"/>
            <a:chOff x="0" y="0"/>
            <a:chExt cx="12915900" cy="38100"/>
          </a:xfrm>
        </p:grpSpPr>
        <p:sp>
          <p:nvSpPr>
            <p:cNvPr id="3" name="Freeform 3"/>
            <p:cNvSpPr/>
            <p:nvPr/>
          </p:nvSpPr>
          <p:spPr>
            <a:xfrm>
              <a:off x="0" y="0"/>
              <a:ext cx="12915900" cy="38100"/>
            </a:xfrm>
            <a:custGeom>
              <a:avLst/>
              <a:gdLst/>
              <a:ahLst/>
              <a:cxnLst/>
              <a:rect l="l" t="t" r="r" b="b"/>
              <a:pathLst>
                <a:path w="12915900" h="38100">
                  <a:moveTo>
                    <a:pt x="0" y="0"/>
                  </a:moveTo>
                  <a:lnTo>
                    <a:pt x="12915900" y="0"/>
                  </a:lnTo>
                  <a:lnTo>
                    <a:pt x="12915900" y="38100"/>
                  </a:lnTo>
                  <a:lnTo>
                    <a:pt x="0" y="38100"/>
                  </a:lnTo>
                  <a:close/>
                </a:path>
              </a:pathLst>
            </a:custGeom>
            <a:solidFill>
              <a:srgbClr val="0284C7"/>
            </a:solidFill>
          </p:spPr>
        </p:sp>
      </p:grpSp>
      <p:grpSp>
        <p:nvGrpSpPr>
          <p:cNvPr id="4" name="Group 4"/>
          <p:cNvGrpSpPr/>
          <p:nvPr/>
        </p:nvGrpSpPr>
        <p:grpSpPr>
          <a:xfrm>
            <a:off x="914400" y="3573437"/>
            <a:ext cx="7529512" cy="3100168"/>
            <a:chOff x="0" y="0"/>
            <a:chExt cx="10039350" cy="4133558"/>
          </a:xfrm>
        </p:grpSpPr>
        <p:sp>
          <p:nvSpPr>
            <p:cNvPr id="5" name="Freeform 5"/>
            <p:cNvSpPr/>
            <p:nvPr/>
          </p:nvSpPr>
          <p:spPr>
            <a:xfrm>
              <a:off x="0" y="0"/>
              <a:ext cx="10039350" cy="4133596"/>
            </a:xfrm>
            <a:custGeom>
              <a:avLst/>
              <a:gdLst/>
              <a:ahLst/>
              <a:cxnLst/>
              <a:rect l="l" t="t" r="r" b="b"/>
              <a:pathLst>
                <a:path w="10039350" h="4133596">
                  <a:moveTo>
                    <a:pt x="0" y="228600"/>
                  </a:moveTo>
                  <a:cubicBezTo>
                    <a:pt x="0" y="102362"/>
                    <a:pt x="102362" y="0"/>
                    <a:pt x="228600" y="0"/>
                  </a:cubicBezTo>
                  <a:lnTo>
                    <a:pt x="9810750" y="0"/>
                  </a:lnTo>
                  <a:cubicBezTo>
                    <a:pt x="9936988" y="0"/>
                    <a:pt x="10039350" y="102362"/>
                    <a:pt x="10039350" y="228600"/>
                  </a:cubicBezTo>
                  <a:lnTo>
                    <a:pt x="10039350" y="3904996"/>
                  </a:lnTo>
                  <a:cubicBezTo>
                    <a:pt x="10039350" y="4031234"/>
                    <a:pt x="9936988" y="4133596"/>
                    <a:pt x="9810750" y="4133596"/>
                  </a:cubicBezTo>
                  <a:lnTo>
                    <a:pt x="228600" y="4133596"/>
                  </a:lnTo>
                  <a:cubicBezTo>
                    <a:pt x="102362" y="4133596"/>
                    <a:pt x="0" y="4031234"/>
                    <a:pt x="0" y="3904996"/>
                  </a:cubicBezTo>
                  <a:close/>
                </a:path>
              </a:pathLst>
            </a:custGeom>
            <a:solidFill>
              <a:srgbClr val="F0F9FF"/>
            </a:solidFill>
          </p:spPr>
        </p:sp>
      </p:grpSp>
      <p:grpSp>
        <p:nvGrpSpPr>
          <p:cNvPr id="6" name="Group 6"/>
          <p:cNvGrpSpPr/>
          <p:nvPr/>
        </p:nvGrpSpPr>
        <p:grpSpPr>
          <a:xfrm>
            <a:off x="914400" y="3573437"/>
            <a:ext cx="71438" cy="3100168"/>
            <a:chOff x="0" y="0"/>
            <a:chExt cx="95250" cy="4133558"/>
          </a:xfrm>
        </p:grpSpPr>
        <p:sp>
          <p:nvSpPr>
            <p:cNvPr id="7" name="Freeform 7"/>
            <p:cNvSpPr/>
            <p:nvPr/>
          </p:nvSpPr>
          <p:spPr>
            <a:xfrm>
              <a:off x="0" y="0"/>
              <a:ext cx="95250" cy="4133596"/>
            </a:xfrm>
            <a:custGeom>
              <a:avLst/>
              <a:gdLst/>
              <a:ahLst/>
              <a:cxnLst/>
              <a:rect l="l" t="t" r="r" b="b"/>
              <a:pathLst>
                <a:path w="95250" h="4133596">
                  <a:moveTo>
                    <a:pt x="0" y="0"/>
                  </a:moveTo>
                  <a:lnTo>
                    <a:pt x="95250" y="0"/>
                  </a:lnTo>
                  <a:lnTo>
                    <a:pt x="95250" y="4133596"/>
                  </a:lnTo>
                  <a:lnTo>
                    <a:pt x="0" y="4133596"/>
                  </a:lnTo>
                  <a:close/>
                </a:path>
              </a:pathLst>
            </a:custGeom>
            <a:solidFill>
              <a:srgbClr val="0284C7"/>
            </a:solidFill>
          </p:spPr>
        </p:sp>
      </p:grpSp>
      <p:sp>
        <p:nvSpPr>
          <p:cNvPr id="8" name="Freeform 8"/>
          <p:cNvSpPr/>
          <p:nvPr/>
        </p:nvSpPr>
        <p:spPr>
          <a:xfrm>
            <a:off x="9859312" y="3100194"/>
            <a:ext cx="7884375" cy="5105062"/>
          </a:xfrm>
          <a:custGeom>
            <a:avLst/>
            <a:gdLst/>
            <a:ahLst/>
            <a:cxnLst/>
            <a:rect l="l" t="t" r="r" b="b"/>
            <a:pathLst>
              <a:path w="7884375" h="5105062">
                <a:moveTo>
                  <a:pt x="0" y="0"/>
                </a:moveTo>
                <a:lnTo>
                  <a:pt x="7884375" y="0"/>
                </a:lnTo>
                <a:lnTo>
                  <a:pt x="7884375" y="5105062"/>
                </a:lnTo>
                <a:lnTo>
                  <a:pt x="0" y="5105062"/>
                </a:lnTo>
                <a:lnTo>
                  <a:pt x="0" y="0"/>
                </a:lnTo>
                <a:close/>
              </a:path>
            </a:pathLst>
          </a:custGeom>
          <a:blipFill>
            <a:blip r:embed="rId2"/>
            <a:stretch>
              <a:fillRect r="-97704"/>
            </a:stretch>
          </a:blipFill>
        </p:spPr>
      </p:sp>
      <p:sp>
        <p:nvSpPr>
          <p:cNvPr id="9" name="TextBox 9"/>
          <p:cNvSpPr txBox="1"/>
          <p:nvPr/>
        </p:nvSpPr>
        <p:spPr>
          <a:xfrm>
            <a:off x="914400" y="885825"/>
            <a:ext cx="10321290" cy="628650"/>
          </a:xfrm>
          <a:prstGeom prst="rect">
            <a:avLst/>
          </a:prstGeom>
        </p:spPr>
        <p:txBody>
          <a:bodyPr lIns="0" tIns="0" rIns="0" bIns="0" rtlCol="0" anchor="t">
            <a:spAutoFit/>
          </a:bodyPr>
          <a:lstStyle/>
          <a:p>
            <a:pPr algn="l">
              <a:lnSpc>
                <a:spcPts val="4320"/>
              </a:lnSpc>
            </a:pPr>
            <a:r>
              <a:rPr lang="en-US" sz="3600" b="1">
                <a:solidFill>
                  <a:srgbClr val="0F172A"/>
                </a:solidFill>
                <a:latin typeface="Arimo Bold"/>
                <a:ea typeface="Arimo Bold"/>
                <a:cs typeface="Arimo Bold"/>
                <a:sym typeface="Arimo Bold"/>
              </a:rPr>
              <a:t>PLOT 2: HEALTH ACUITY VS. DOCTOR VISITS</a:t>
            </a:r>
          </a:p>
        </p:txBody>
      </p:sp>
      <p:sp>
        <p:nvSpPr>
          <p:cNvPr id="10" name="TextBox 10"/>
          <p:cNvSpPr txBox="1"/>
          <p:nvPr/>
        </p:nvSpPr>
        <p:spPr>
          <a:xfrm>
            <a:off x="914400" y="6835521"/>
            <a:ext cx="7672388" cy="1163688"/>
          </a:xfrm>
          <a:prstGeom prst="rect">
            <a:avLst/>
          </a:prstGeom>
        </p:spPr>
        <p:txBody>
          <a:bodyPr lIns="0" tIns="0" rIns="0" bIns="0" rtlCol="0" anchor="t">
            <a:spAutoFit/>
          </a:bodyPr>
          <a:lstStyle/>
          <a:p>
            <a:pPr algn="l">
              <a:lnSpc>
                <a:spcPts val="2880"/>
              </a:lnSpc>
            </a:pPr>
            <a:r>
              <a:rPr lang="en-US" sz="1800">
                <a:solidFill>
                  <a:srgbClr val="475569"/>
                </a:solidFill>
                <a:latin typeface="Inter"/>
                <a:ea typeface="Inter"/>
                <a:cs typeface="Inter"/>
                <a:sym typeface="Inter"/>
              </a:rPr>
              <a:t>Furthermore, days of reduced activity correlate strongly with repeat clinic visits, revealing that functional physical impairment directly triggers hospital presentation.</a:t>
            </a:r>
          </a:p>
        </p:txBody>
      </p:sp>
      <p:sp>
        <p:nvSpPr>
          <p:cNvPr id="11" name="TextBox 11"/>
          <p:cNvSpPr txBox="1"/>
          <p:nvPr/>
        </p:nvSpPr>
        <p:spPr>
          <a:xfrm>
            <a:off x="1328738" y="3916337"/>
            <a:ext cx="8465344" cy="271462"/>
          </a:xfrm>
          <a:prstGeom prst="rect">
            <a:avLst/>
          </a:prstGeom>
        </p:spPr>
        <p:txBody>
          <a:bodyPr lIns="0" tIns="0" rIns="0" bIns="0" rtlCol="0" anchor="t">
            <a:spAutoFit/>
          </a:bodyPr>
          <a:lstStyle/>
          <a:p>
            <a:pPr algn="l">
              <a:lnSpc>
                <a:spcPts val="2025"/>
              </a:lnSpc>
            </a:pPr>
            <a:r>
              <a:rPr lang="en-US" sz="1687" b="1">
                <a:solidFill>
                  <a:srgbClr val="0369A1"/>
                </a:solidFill>
                <a:latin typeface="Inter Bold"/>
                <a:ea typeface="Inter Bold"/>
                <a:cs typeface="Inter Bold"/>
                <a:sym typeface="Inter Bold"/>
              </a:rPr>
              <a:t>ANALYTICAL RESULT</a:t>
            </a:r>
          </a:p>
        </p:txBody>
      </p:sp>
      <p:sp>
        <p:nvSpPr>
          <p:cNvPr id="12" name="TextBox 12"/>
          <p:cNvSpPr txBox="1"/>
          <p:nvPr/>
        </p:nvSpPr>
        <p:spPr>
          <a:xfrm>
            <a:off x="1328738" y="4187800"/>
            <a:ext cx="6915150" cy="2142906"/>
          </a:xfrm>
          <a:prstGeom prst="rect">
            <a:avLst/>
          </a:prstGeom>
        </p:spPr>
        <p:txBody>
          <a:bodyPr lIns="0" tIns="0" rIns="0" bIns="0" rtlCol="0" anchor="t">
            <a:spAutoFit/>
          </a:bodyPr>
          <a:lstStyle/>
          <a:p>
            <a:pPr algn="l">
              <a:lnSpc>
                <a:spcPts val="3240"/>
              </a:lnSpc>
            </a:pPr>
            <a:r>
              <a:rPr lang="en-US" sz="2025" b="1">
                <a:solidFill>
                  <a:srgbClr val="0F172A"/>
                </a:solidFill>
                <a:latin typeface="Inter Bold"/>
                <a:ea typeface="Inter Bold"/>
                <a:cs typeface="Inter Bold"/>
                <a:sym typeface="Inter Bold"/>
              </a:rPr>
              <a:t>Result:</a:t>
            </a:r>
            <a:r>
              <a:rPr lang="en-US" sz="2025">
                <a:solidFill>
                  <a:srgbClr val="0F172A"/>
                </a:solidFill>
                <a:latin typeface="Inter"/>
                <a:ea typeface="Inter"/>
                <a:cs typeface="Inter"/>
                <a:sym typeface="Inter"/>
              </a:rPr>
              <a:t> Self-reported illness count is the single strongest determinant of consultation frequency. Individuals with 5+ illnesses average </a:t>
            </a:r>
            <a:r>
              <a:rPr lang="en-US" sz="2025" b="1">
                <a:solidFill>
                  <a:srgbClr val="0F172A"/>
                </a:solidFill>
                <a:latin typeface="Inter Bold"/>
                <a:ea typeface="Inter Bold"/>
                <a:cs typeface="Inter Bold"/>
                <a:sym typeface="Inter Bold"/>
              </a:rPr>
              <a:t>over 1.0 visits</a:t>
            </a:r>
            <a:r>
              <a:rPr lang="en-US" sz="2025">
                <a:solidFill>
                  <a:srgbClr val="0F172A"/>
                </a:solidFill>
                <a:latin typeface="Inter"/>
                <a:ea typeface="Inter"/>
                <a:cs typeface="Inter"/>
                <a:sym typeface="Inter"/>
              </a:rPr>
              <a:t>, compared to just </a:t>
            </a:r>
            <a:r>
              <a:rPr lang="en-US" sz="2025" b="1">
                <a:solidFill>
                  <a:srgbClr val="0F172A"/>
                </a:solidFill>
                <a:latin typeface="Inter Bold"/>
                <a:ea typeface="Inter Bold"/>
                <a:cs typeface="Inter Bold"/>
                <a:sym typeface="Inter Bold"/>
              </a:rPr>
              <a:t>0.13 visits</a:t>
            </a:r>
            <a:r>
              <a:rPr lang="en-US" sz="2025">
                <a:solidFill>
                  <a:srgbClr val="0F172A"/>
                </a:solidFill>
                <a:latin typeface="Inter"/>
                <a:ea typeface="Inter"/>
                <a:cs typeface="Inter"/>
                <a:sym typeface="Inter"/>
              </a:rPr>
              <a:t> for individuals with 0 reported illnesses.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 y="1600200"/>
            <a:ext cx="12101512" cy="28575"/>
            <a:chOff x="0" y="0"/>
            <a:chExt cx="16135350" cy="38100"/>
          </a:xfrm>
        </p:grpSpPr>
        <p:sp>
          <p:nvSpPr>
            <p:cNvPr id="3" name="Freeform 3"/>
            <p:cNvSpPr/>
            <p:nvPr/>
          </p:nvSpPr>
          <p:spPr>
            <a:xfrm>
              <a:off x="0" y="0"/>
              <a:ext cx="16135350" cy="38100"/>
            </a:xfrm>
            <a:custGeom>
              <a:avLst/>
              <a:gdLst/>
              <a:ahLst/>
              <a:cxnLst/>
              <a:rect l="l" t="t" r="r" b="b"/>
              <a:pathLst>
                <a:path w="16135350" h="38100">
                  <a:moveTo>
                    <a:pt x="0" y="0"/>
                  </a:moveTo>
                  <a:lnTo>
                    <a:pt x="16135350" y="0"/>
                  </a:lnTo>
                  <a:lnTo>
                    <a:pt x="16135350" y="38100"/>
                  </a:lnTo>
                  <a:lnTo>
                    <a:pt x="0" y="38100"/>
                  </a:lnTo>
                  <a:close/>
                </a:path>
              </a:pathLst>
            </a:custGeom>
            <a:solidFill>
              <a:srgbClr val="0284C7"/>
            </a:solidFill>
          </p:spPr>
        </p:sp>
      </p:grpSp>
      <p:grpSp>
        <p:nvGrpSpPr>
          <p:cNvPr id="4" name="Group 4"/>
          <p:cNvGrpSpPr/>
          <p:nvPr/>
        </p:nvGrpSpPr>
        <p:grpSpPr>
          <a:xfrm>
            <a:off x="9429750" y="3756269"/>
            <a:ext cx="7943850" cy="3100168"/>
            <a:chOff x="0" y="0"/>
            <a:chExt cx="10591800" cy="4133558"/>
          </a:xfrm>
        </p:grpSpPr>
        <p:sp>
          <p:nvSpPr>
            <p:cNvPr id="5" name="Freeform 5"/>
            <p:cNvSpPr/>
            <p:nvPr/>
          </p:nvSpPr>
          <p:spPr>
            <a:xfrm>
              <a:off x="0" y="0"/>
              <a:ext cx="10591800" cy="4133596"/>
            </a:xfrm>
            <a:custGeom>
              <a:avLst/>
              <a:gdLst/>
              <a:ahLst/>
              <a:cxnLst/>
              <a:rect l="l" t="t" r="r" b="b"/>
              <a:pathLst>
                <a:path w="10591800" h="4133596">
                  <a:moveTo>
                    <a:pt x="0" y="228600"/>
                  </a:moveTo>
                  <a:cubicBezTo>
                    <a:pt x="0" y="102362"/>
                    <a:pt x="102362" y="0"/>
                    <a:pt x="228600" y="0"/>
                  </a:cubicBezTo>
                  <a:lnTo>
                    <a:pt x="10363200" y="0"/>
                  </a:lnTo>
                  <a:cubicBezTo>
                    <a:pt x="10489438" y="0"/>
                    <a:pt x="10591800" y="102362"/>
                    <a:pt x="10591800" y="228600"/>
                  </a:cubicBezTo>
                  <a:lnTo>
                    <a:pt x="10591800" y="3904996"/>
                  </a:lnTo>
                  <a:cubicBezTo>
                    <a:pt x="10591800" y="4031234"/>
                    <a:pt x="10489438" y="4133596"/>
                    <a:pt x="10363200" y="4133596"/>
                  </a:cubicBezTo>
                  <a:lnTo>
                    <a:pt x="228600" y="4133596"/>
                  </a:lnTo>
                  <a:cubicBezTo>
                    <a:pt x="102362" y="4133596"/>
                    <a:pt x="0" y="4031234"/>
                    <a:pt x="0" y="3904996"/>
                  </a:cubicBezTo>
                  <a:close/>
                </a:path>
              </a:pathLst>
            </a:custGeom>
            <a:solidFill>
              <a:srgbClr val="F0F9FF"/>
            </a:solidFill>
          </p:spPr>
        </p:sp>
      </p:grpSp>
      <p:grpSp>
        <p:nvGrpSpPr>
          <p:cNvPr id="6" name="Group 6"/>
          <p:cNvGrpSpPr/>
          <p:nvPr/>
        </p:nvGrpSpPr>
        <p:grpSpPr>
          <a:xfrm>
            <a:off x="9429750" y="3756269"/>
            <a:ext cx="71438" cy="3100168"/>
            <a:chOff x="0" y="0"/>
            <a:chExt cx="95250" cy="4133558"/>
          </a:xfrm>
        </p:grpSpPr>
        <p:sp>
          <p:nvSpPr>
            <p:cNvPr id="7" name="Freeform 7"/>
            <p:cNvSpPr/>
            <p:nvPr/>
          </p:nvSpPr>
          <p:spPr>
            <a:xfrm>
              <a:off x="0" y="0"/>
              <a:ext cx="95250" cy="4133596"/>
            </a:xfrm>
            <a:custGeom>
              <a:avLst/>
              <a:gdLst/>
              <a:ahLst/>
              <a:cxnLst/>
              <a:rect l="l" t="t" r="r" b="b"/>
              <a:pathLst>
                <a:path w="95250" h="4133596">
                  <a:moveTo>
                    <a:pt x="0" y="0"/>
                  </a:moveTo>
                  <a:lnTo>
                    <a:pt x="95250" y="0"/>
                  </a:lnTo>
                  <a:lnTo>
                    <a:pt x="95250" y="4133596"/>
                  </a:lnTo>
                  <a:lnTo>
                    <a:pt x="0" y="4133596"/>
                  </a:lnTo>
                  <a:close/>
                </a:path>
              </a:pathLst>
            </a:custGeom>
            <a:solidFill>
              <a:srgbClr val="0284C7"/>
            </a:solidFill>
          </p:spPr>
        </p:sp>
      </p:grpSp>
      <p:sp>
        <p:nvSpPr>
          <p:cNvPr id="8" name="Freeform 8"/>
          <p:cNvSpPr/>
          <p:nvPr/>
        </p:nvSpPr>
        <p:spPr>
          <a:xfrm>
            <a:off x="231130" y="3756269"/>
            <a:ext cx="8932530" cy="4400807"/>
          </a:xfrm>
          <a:custGeom>
            <a:avLst/>
            <a:gdLst/>
            <a:ahLst/>
            <a:cxnLst/>
            <a:rect l="l" t="t" r="r" b="b"/>
            <a:pathLst>
              <a:path w="8932530" h="4400807">
                <a:moveTo>
                  <a:pt x="0" y="0"/>
                </a:moveTo>
                <a:lnTo>
                  <a:pt x="8932530" y="0"/>
                </a:lnTo>
                <a:lnTo>
                  <a:pt x="8932530" y="4400807"/>
                </a:lnTo>
                <a:lnTo>
                  <a:pt x="0" y="4400807"/>
                </a:lnTo>
                <a:lnTo>
                  <a:pt x="0" y="0"/>
                </a:lnTo>
                <a:close/>
              </a:path>
            </a:pathLst>
          </a:custGeom>
          <a:blipFill>
            <a:blip r:embed="rId2"/>
            <a:stretch>
              <a:fillRect/>
            </a:stretch>
          </a:blipFill>
        </p:spPr>
      </p:sp>
      <p:sp>
        <p:nvSpPr>
          <p:cNvPr id="9" name="TextBox 9"/>
          <p:cNvSpPr txBox="1"/>
          <p:nvPr/>
        </p:nvSpPr>
        <p:spPr>
          <a:xfrm>
            <a:off x="914400" y="885825"/>
            <a:ext cx="12856607" cy="628650"/>
          </a:xfrm>
          <a:prstGeom prst="rect">
            <a:avLst/>
          </a:prstGeom>
        </p:spPr>
        <p:txBody>
          <a:bodyPr lIns="0" tIns="0" rIns="0" bIns="0" rtlCol="0" anchor="t">
            <a:spAutoFit/>
          </a:bodyPr>
          <a:lstStyle/>
          <a:p>
            <a:pPr algn="l">
              <a:lnSpc>
                <a:spcPts val="4320"/>
              </a:lnSpc>
            </a:pPr>
            <a:r>
              <a:rPr lang="en-US" sz="3600" b="1">
                <a:solidFill>
                  <a:srgbClr val="0F172A"/>
                </a:solidFill>
                <a:latin typeface="Arimo Bold"/>
                <a:ea typeface="Arimo Bold"/>
                <a:cs typeface="Arimo Bold"/>
                <a:sym typeface="Arimo Bold"/>
              </a:rPr>
              <a:t>PLOT 3: IMPACT OF HEALTHCARE SUPPORT PROGRAMS</a:t>
            </a:r>
          </a:p>
        </p:txBody>
      </p:sp>
      <p:sp>
        <p:nvSpPr>
          <p:cNvPr id="10" name="TextBox 10"/>
          <p:cNvSpPr txBox="1"/>
          <p:nvPr/>
        </p:nvSpPr>
        <p:spPr>
          <a:xfrm>
            <a:off x="9429750" y="7018363"/>
            <a:ext cx="8086725" cy="798014"/>
          </a:xfrm>
          <a:prstGeom prst="rect">
            <a:avLst/>
          </a:prstGeom>
        </p:spPr>
        <p:txBody>
          <a:bodyPr lIns="0" tIns="0" rIns="0" bIns="0" rtlCol="0" anchor="t">
            <a:spAutoFit/>
          </a:bodyPr>
          <a:lstStyle/>
          <a:p>
            <a:pPr algn="l">
              <a:lnSpc>
                <a:spcPts val="2880"/>
              </a:lnSpc>
            </a:pPr>
            <a:r>
              <a:rPr lang="en-US" sz="1800">
                <a:solidFill>
                  <a:srgbClr val="475569"/>
                </a:solidFill>
                <a:latin typeface="Inter"/>
                <a:ea typeface="Inter"/>
                <a:cs typeface="Inter"/>
                <a:sym typeface="Inter"/>
              </a:rPr>
              <a:t>This proves that financial relief policies effectively achieve their mandate by channeling care to vulnerable socioeconomic segments.</a:t>
            </a:r>
          </a:p>
        </p:txBody>
      </p:sp>
      <p:sp>
        <p:nvSpPr>
          <p:cNvPr id="11" name="TextBox 11"/>
          <p:cNvSpPr txBox="1"/>
          <p:nvPr/>
        </p:nvSpPr>
        <p:spPr>
          <a:xfrm>
            <a:off x="9844088" y="4099169"/>
            <a:ext cx="8443912" cy="271462"/>
          </a:xfrm>
          <a:prstGeom prst="rect">
            <a:avLst/>
          </a:prstGeom>
        </p:spPr>
        <p:txBody>
          <a:bodyPr lIns="0" tIns="0" rIns="0" bIns="0" rtlCol="0" anchor="t">
            <a:spAutoFit/>
          </a:bodyPr>
          <a:lstStyle/>
          <a:p>
            <a:pPr algn="l">
              <a:lnSpc>
                <a:spcPts val="2025"/>
              </a:lnSpc>
            </a:pPr>
            <a:r>
              <a:rPr lang="en-US" sz="1687" b="1">
                <a:solidFill>
                  <a:srgbClr val="0369A1"/>
                </a:solidFill>
                <a:latin typeface="Inter Bold"/>
                <a:ea typeface="Inter Bold"/>
                <a:cs typeface="Inter Bold"/>
                <a:sym typeface="Inter Bold"/>
              </a:rPr>
              <a:t>ANALYTICAL RESULT</a:t>
            </a:r>
          </a:p>
        </p:txBody>
      </p:sp>
      <p:sp>
        <p:nvSpPr>
          <p:cNvPr id="12" name="TextBox 12"/>
          <p:cNvSpPr txBox="1"/>
          <p:nvPr/>
        </p:nvSpPr>
        <p:spPr>
          <a:xfrm>
            <a:off x="9844088" y="4370632"/>
            <a:ext cx="7329488" cy="2142906"/>
          </a:xfrm>
          <a:prstGeom prst="rect">
            <a:avLst/>
          </a:prstGeom>
        </p:spPr>
        <p:txBody>
          <a:bodyPr lIns="0" tIns="0" rIns="0" bIns="0" rtlCol="0" anchor="t">
            <a:spAutoFit/>
          </a:bodyPr>
          <a:lstStyle/>
          <a:p>
            <a:pPr algn="l">
              <a:lnSpc>
                <a:spcPts val="3240"/>
              </a:lnSpc>
            </a:pPr>
            <a:r>
              <a:rPr lang="en-US" sz="2025" b="1">
                <a:solidFill>
                  <a:srgbClr val="0F172A"/>
                </a:solidFill>
                <a:latin typeface="Inter Bold"/>
                <a:ea typeface="Inter Bold"/>
                <a:cs typeface="Inter Bold"/>
                <a:sym typeface="Inter Bold"/>
              </a:rPr>
              <a:t>Result:</a:t>
            </a:r>
            <a:r>
              <a:rPr lang="en-US" sz="2025">
                <a:solidFill>
                  <a:srgbClr val="0F172A"/>
                </a:solidFill>
                <a:latin typeface="Inter"/>
                <a:ea typeface="Inter"/>
                <a:cs typeface="Inter"/>
                <a:sym typeface="Inter"/>
              </a:rPr>
              <a:t> Free healthcare access programs significantly eliminate financial deterrence. Subsidized beneficiaries under poverty support and repatriation access clinical consultations at a </a:t>
            </a:r>
            <a:r>
              <a:rPr lang="en-US" sz="2025" b="1">
                <a:solidFill>
                  <a:srgbClr val="0F172A"/>
                </a:solidFill>
                <a:latin typeface="Inter Bold"/>
                <a:ea typeface="Inter Bold"/>
                <a:cs typeface="Inter Bold"/>
                <a:sym typeface="Inter Bold"/>
              </a:rPr>
              <a:t>1.6x to 1.8x</a:t>
            </a:r>
            <a:r>
              <a:rPr lang="en-US" sz="2025">
                <a:solidFill>
                  <a:srgbClr val="0F172A"/>
                </a:solidFill>
                <a:latin typeface="Inter"/>
                <a:ea typeface="Inter"/>
                <a:cs typeface="Inter"/>
                <a:sym typeface="Inter"/>
              </a:rPr>
              <a:t> higher rate than self-paying patients.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 y="3772119"/>
            <a:ext cx="7943850" cy="2688727"/>
            <a:chOff x="0" y="0"/>
            <a:chExt cx="10591800" cy="3584969"/>
          </a:xfrm>
        </p:grpSpPr>
        <p:sp>
          <p:nvSpPr>
            <p:cNvPr id="3" name="Freeform 3"/>
            <p:cNvSpPr/>
            <p:nvPr/>
          </p:nvSpPr>
          <p:spPr>
            <a:xfrm>
              <a:off x="0" y="0"/>
              <a:ext cx="10591800" cy="3584956"/>
            </a:xfrm>
            <a:custGeom>
              <a:avLst/>
              <a:gdLst/>
              <a:ahLst/>
              <a:cxnLst/>
              <a:rect l="l" t="t" r="r" b="b"/>
              <a:pathLst>
                <a:path w="10591800" h="3584956">
                  <a:moveTo>
                    <a:pt x="0" y="228600"/>
                  </a:moveTo>
                  <a:cubicBezTo>
                    <a:pt x="0" y="102362"/>
                    <a:pt x="102362" y="0"/>
                    <a:pt x="228600" y="0"/>
                  </a:cubicBezTo>
                  <a:lnTo>
                    <a:pt x="10363200" y="0"/>
                  </a:lnTo>
                  <a:cubicBezTo>
                    <a:pt x="10489438" y="0"/>
                    <a:pt x="10591800" y="102362"/>
                    <a:pt x="10591800" y="228600"/>
                  </a:cubicBezTo>
                  <a:lnTo>
                    <a:pt x="10591800" y="3356356"/>
                  </a:lnTo>
                  <a:cubicBezTo>
                    <a:pt x="10591800" y="3482594"/>
                    <a:pt x="10489438" y="3584956"/>
                    <a:pt x="10363200" y="3584956"/>
                  </a:cubicBezTo>
                  <a:lnTo>
                    <a:pt x="228600" y="3584956"/>
                  </a:lnTo>
                  <a:cubicBezTo>
                    <a:pt x="102362" y="3584956"/>
                    <a:pt x="0" y="3482594"/>
                    <a:pt x="0" y="3356356"/>
                  </a:cubicBezTo>
                  <a:close/>
                </a:path>
              </a:pathLst>
            </a:custGeom>
            <a:solidFill>
              <a:srgbClr val="F0F9FF"/>
            </a:solidFill>
          </p:spPr>
        </p:sp>
      </p:grpSp>
      <p:grpSp>
        <p:nvGrpSpPr>
          <p:cNvPr id="4" name="Group 4"/>
          <p:cNvGrpSpPr/>
          <p:nvPr/>
        </p:nvGrpSpPr>
        <p:grpSpPr>
          <a:xfrm>
            <a:off x="914400" y="3772119"/>
            <a:ext cx="71438" cy="2688727"/>
            <a:chOff x="0" y="0"/>
            <a:chExt cx="95250" cy="3584969"/>
          </a:xfrm>
        </p:grpSpPr>
        <p:sp>
          <p:nvSpPr>
            <p:cNvPr id="5" name="Freeform 5"/>
            <p:cNvSpPr/>
            <p:nvPr/>
          </p:nvSpPr>
          <p:spPr>
            <a:xfrm>
              <a:off x="0" y="0"/>
              <a:ext cx="95250" cy="3584956"/>
            </a:xfrm>
            <a:custGeom>
              <a:avLst/>
              <a:gdLst/>
              <a:ahLst/>
              <a:cxnLst/>
              <a:rect l="l" t="t" r="r" b="b"/>
              <a:pathLst>
                <a:path w="95250" h="3584956">
                  <a:moveTo>
                    <a:pt x="0" y="0"/>
                  </a:moveTo>
                  <a:lnTo>
                    <a:pt x="95250" y="0"/>
                  </a:lnTo>
                  <a:lnTo>
                    <a:pt x="95250" y="3584956"/>
                  </a:lnTo>
                  <a:lnTo>
                    <a:pt x="0" y="3584956"/>
                  </a:lnTo>
                  <a:close/>
                </a:path>
              </a:pathLst>
            </a:custGeom>
            <a:solidFill>
              <a:srgbClr val="0284C7"/>
            </a:solidFill>
          </p:spPr>
        </p:sp>
      </p:grpSp>
      <p:sp>
        <p:nvSpPr>
          <p:cNvPr id="6" name="Freeform 6"/>
          <p:cNvSpPr/>
          <p:nvPr/>
        </p:nvSpPr>
        <p:spPr>
          <a:xfrm>
            <a:off x="9668065" y="2891026"/>
            <a:ext cx="7591235" cy="6367274"/>
          </a:xfrm>
          <a:custGeom>
            <a:avLst/>
            <a:gdLst/>
            <a:ahLst/>
            <a:cxnLst/>
            <a:rect l="l" t="t" r="r" b="b"/>
            <a:pathLst>
              <a:path w="7591235" h="6367274">
                <a:moveTo>
                  <a:pt x="0" y="0"/>
                </a:moveTo>
                <a:lnTo>
                  <a:pt x="7591235" y="0"/>
                </a:lnTo>
                <a:lnTo>
                  <a:pt x="7591235" y="6367274"/>
                </a:lnTo>
                <a:lnTo>
                  <a:pt x="0" y="6367274"/>
                </a:lnTo>
                <a:lnTo>
                  <a:pt x="0" y="0"/>
                </a:lnTo>
                <a:close/>
              </a:path>
            </a:pathLst>
          </a:custGeom>
          <a:blipFill>
            <a:blip r:embed="rId2"/>
            <a:stretch>
              <a:fillRect t="-1073" r="-188533"/>
            </a:stretch>
          </a:blipFill>
        </p:spPr>
      </p:sp>
      <p:sp>
        <p:nvSpPr>
          <p:cNvPr id="7" name="TextBox 7"/>
          <p:cNvSpPr txBox="1"/>
          <p:nvPr/>
        </p:nvSpPr>
        <p:spPr>
          <a:xfrm>
            <a:off x="882968" y="748523"/>
            <a:ext cx="14161770" cy="1114425"/>
          </a:xfrm>
          <a:prstGeom prst="rect">
            <a:avLst/>
          </a:prstGeom>
        </p:spPr>
        <p:txBody>
          <a:bodyPr lIns="0" tIns="0" rIns="0" bIns="0" rtlCol="0" anchor="t">
            <a:spAutoFit/>
          </a:bodyPr>
          <a:lstStyle/>
          <a:p>
            <a:pPr algn="l">
              <a:lnSpc>
                <a:spcPts val="4320"/>
              </a:lnSpc>
            </a:pPr>
            <a:r>
              <a:rPr lang="en-US" sz="3600" b="1">
                <a:solidFill>
                  <a:srgbClr val="0F172A"/>
                </a:solidFill>
                <a:latin typeface="Arimo Bold"/>
                <a:ea typeface="Arimo Bold"/>
                <a:cs typeface="Arimo Bold"/>
                <a:sym typeface="Arimo Bold"/>
              </a:rPr>
              <a:t>PLOT 4: GENDER &amp; DEMOGRAPHIC CONSULTATION</a:t>
            </a:r>
          </a:p>
          <a:p>
            <a:pPr algn="l">
              <a:lnSpc>
                <a:spcPts val="4320"/>
              </a:lnSpc>
            </a:pPr>
            <a:r>
              <a:rPr lang="en-US" sz="3600" b="1">
                <a:solidFill>
                  <a:srgbClr val="0F172A"/>
                </a:solidFill>
                <a:latin typeface="Arimo Bold"/>
                <a:ea typeface="Arimo Bold"/>
                <a:cs typeface="Arimo Bold"/>
                <a:sym typeface="Arimo Bold"/>
              </a:rPr>
              <a:t> PATTERNS</a:t>
            </a:r>
          </a:p>
        </p:txBody>
      </p:sp>
      <p:sp>
        <p:nvSpPr>
          <p:cNvPr id="8" name="TextBox 8"/>
          <p:cNvSpPr txBox="1"/>
          <p:nvPr/>
        </p:nvSpPr>
        <p:spPr>
          <a:xfrm>
            <a:off x="914400" y="6622780"/>
            <a:ext cx="8086725" cy="1177976"/>
          </a:xfrm>
          <a:prstGeom prst="rect">
            <a:avLst/>
          </a:prstGeom>
        </p:spPr>
        <p:txBody>
          <a:bodyPr lIns="0" tIns="0" rIns="0" bIns="0" rtlCol="0" anchor="t">
            <a:spAutoFit/>
          </a:bodyPr>
          <a:lstStyle/>
          <a:p>
            <a:pPr algn="l">
              <a:lnSpc>
                <a:spcPts val="2880"/>
              </a:lnSpc>
            </a:pPr>
            <a:r>
              <a:rPr lang="en-US" sz="1800">
                <a:solidFill>
                  <a:srgbClr val="475569"/>
                </a:solidFill>
                <a:latin typeface="Inter"/>
                <a:ea typeface="Inter"/>
                <a:cs typeface="Inter"/>
                <a:sym typeface="Inter"/>
              </a:rPr>
              <a:t>Elderly individuals and patients diagnosed with long-term chronic illness (lchronic='yes') represent consistent, multi-visit outpatient users requiring continuous disease monitoring.</a:t>
            </a:r>
          </a:p>
        </p:txBody>
      </p:sp>
      <p:sp>
        <p:nvSpPr>
          <p:cNvPr id="9" name="TextBox 9"/>
          <p:cNvSpPr txBox="1"/>
          <p:nvPr/>
        </p:nvSpPr>
        <p:spPr>
          <a:xfrm>
            <a:off x="1328738" y="4115019"/>
            <a:ext cx="8983266" cy="271462"/>
          </a:xfrm>
          <a:prstGeom prst="rect">
            <a:avLst/>
          </a:prstGeom>
        </p:spPr>
        <p:txBody>
          <a:bodyPr lIns="0" tIns="0" rIns="0" bIns="0" rtlCol="0" anchor="t">
            <a:spAutoFit/>
          </a:bodyPr>
          <a:lstStyle/>
          <a:p>
            <a:pPr algn="l">
              <a:lnSpc>
                <a:spcPts val="2025"/>
              </a:lnSpc>
            </a:pPr>
            <a:r>
              <a:rPr lang="en-US" sz="1687" b="1">
                <a:solidFill>
                  <a:srgbClr val="0369A1"/>
                </a:solidFill>
                <a:latin typeface="Inter Bold"/>
                <a:ea typeface="Inter Bold"/>
                <a:cs typeface="Inter Bold"/>
                <a:sym typeface="Inter Bold"/>
              </a:rPr>
              <a:t>ANALYTICAL RESULT</a:t>
            </a:r>
          </a:p>
        </p:txBody>
      </p:sp>
      <p:sp>
        <p:nvSpPr>
          <p:cNvPr id="10" name="TextBox 10"/>
          <p:cNvSpPr txBox="1"/>
          <p:nvPr/>
        </p:nvSpPr>
        <p:spPr>
          <a:xfrm>
            <a:off x="1328738" y="4386482"/>
            <a:ext cx="7329488" cy="1731464"/>
          </a:xfrm>
          <a:prstGeom prst="rect">
            <a:avLst/>
          </a:prstGeom>
        </p:spPr>
        <p:txBody>
          <a:bodyPr lIns="0" tIns="0" rIns="0" bIns="0" rtlCol="0" anchor="t">
            <a:spAutoFit/>
          </a:bodyPr>
          <a:lstStyle/>
          <a:p>
            <a:pPr algn="l">
              <a:lnSpc>
                <a:spcPts val="3240"/>
              </a:lnSpc>
            </a:pPr>
            <a:r>
              <a:rPr lang="en-US" sz="2025" b="1">
                <a:solidFill>
                  <a:srgbClr val="0F172A"/>
                </a:solidFill>
                <a:latin typeface="Inter Bold"/>
                <a:ea typeface="Inter Bold"/>
                <a:cs typeface="Inter Bold"/>
                <a:sym typeface="Inter Bold"/>
              </a:rPr>
              <a:t>Result:</a:t>
            </a:r>
            <a:r>
              <a:rPr lang="en-US" sz="2025">
                <a:solidFill>
                  <a:srgbClr val="0F172A"/>
                </a:solidFill>
                <a:latin typeface="Inter"/>
                <a:ea typeface="Inter"/>
                <a:cs typeface="Inter"/>
                <a:sym typeface="Inter"/>
              </a:rPr>
              <a:t> Females demonstrate a substantially higher mean doctor visit rate (</a:t>
            </a:r>
            <a:r>
              <a:rPr lang="en-US" sz="2025" b="1">
                <a:solidFill>
                  <a:srgbClr val="0F172A"/>
                </a:solidFill>
                <a:latin typeface="Inter Bold"/>
                <a:ea typeface="Inter Bold"/>
                <a:cs typeface="Inter Bold"/>
                <a:sym typeface="Inter Bold"/>
              </a:rPr>
              <a:t>0.37</a:t>
            </a:r>
            <a:r>
              <a:rPr lang="en-US" sz="2025">
                <a:solidFill>
                  <a:srgbClr val="0F172A"/>
                </a:solidFill>
                <a:latin typeface="Inter"/>
                <a:ea typeface="Inter"/>
                <a:cs typeface="Inter"/>
                <a:sym typeface="Inter"/>
              </a:rPr>
              <a:t>) than males (</a:t>
            </a:r>
            <a:r>
              <a:rPr lang="en-US" sz="2025" b="1">
                <a:solidFill>
                  <a:srgbClr val="0F172A"/>
                </a:solidFill>
                <a:latin typeface="Inter Bold"/>
                <a:ea typeface="Inter Bold"/>
                <a:cs typeface="Inter Bold"/>
                <a:sym typeface="Inter Bold"/>
              </a:rPr>
              <a:t>0.23</a:t>
            </a:r>
            <a:r>
              <a:rPr lang="en-US" sz="2025">
                <a:solidFill>
                  <a:srgbClr val="0F172A"/>
                </a:solidFill>
                <a:latin typeface="Inter"/>
                <a:ea typeface="Inter"/>
                <a:cs typeface="Inter"/>
                <a:sym typeface="Inter"/>
              </a:rPr>
              <a:t>). Furthermore, consultation frequency increases monotonically with age and chronic condition diagnosis.</a:t>
            </a:r>
          </a:p>
        </p:txBody>
      </p:sp>
      <p:grpSp>
        <p:nvGrpSpPr>
          <p:cNvPr id="11" name="Group 11"/>
          <p:cNvGrpSpPr/>
          <p:nvPr/>
        </p:nvGrpSpPr>
        <p:grpSpPr>
          <a:xfrm>
            <a:off x="882968" y="1862948"/>
            <a:ext cx="12101512" cy="28575"/>
            <a:chOff x="0" y="0"/>
            <a:chExt cx="16135350" cy="38100"/>
          </a:xfrm>
        </p:grpSpPr>
        <p:sp>
          <p:nvSpPr>
            <p:cNvPr id="12" name="Freeform 12"/>
            <p:cNvSpPr/>
            <p:nvPr/>
          </p:nvSpPr>
          <p:spPr>
            <a:xfrm>
              <a:off x="0" y="0"/>
              <a:ext cx="16135350" cy="38100"/>
            </a:xfrm>
            <a:custGeom>
              <a:avLst/>
              <a:gdLst/>
              <a:ahLst/>
              <a:cxnLst/>
              <a:rect l="l" t="t" r="r" b="b"/>
              <a:pathLst>
                <a:path w="16135350" h="38100">
                  <a:moveTo>
                    <a:pt x="0" y="0"/>
                  </a:moveTo>
                  <a:lnTo>
                    <a:pt x="16135350" y="0"/>
                  </a:lnTo>
                  <a:lnTo>
                    <a:pt x="16135350" y="38100"/>
                  </a:lnTo>
                  <a:lnTo>
                    <a:pt x="0" y="38100"/>
                  </a:lnTo>
                  <a:close/>
                </a:path>
              </a:pathLst>
            </a:custGeom>
            <a:solidFill>
              <a:srgbClr val="0284C7"/>
            </a:solidFill>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 y="1600200"/>
            <a:ext cx="3386138" cy="28575"/>
            <a:chOff x="0" y="0"/>
            <a:chExt cx="4514850" cy="38100"/>
          </a:xfrm>
        </p:grpSpPr>
        <p:sp>
          <p:nvSpPr>
            <p:cNvPr id="3" name="Freeform 3"/>
            <p:cNvSpPr/>
            <p:nvPr/>
          </p:nvSpPr>
          <p:spPr>
            <a:xfrm>
              <a:off x="0" y="0"/>
              <a:ext cx="4514850" cy="38100"/>
            </a:xfrm>
            <a:custGeom>
              <a:avLst/>
              <a:gdLst/>
              <a:ahLst/>
              <a:cxnLst/>
              <a:rect l="l" t="t" r="r" b="b"/>
              <a:pathLst>
                <a:path w="4514850" h="38100">
                  <a:moveTo>
                    <a:pt x="0" y="0"/>
                  </a:moveTo>
                  <a:lnTo>
                    <a:pt x="4514850" y="0"/>
                  </a:lnTo>
                  <a:lnTo>
                    <a:pt x="4514850" y="38100"/>
                  </a:lnTo>
                  <a:lnTo>
                    <a:pt x="0" y="38100"/>
                  </a:lnTo>
                  <a:close/>
                </a:path>
              </a:pathLst>
            </a:custGeom>
            <a:solidFill>
              <a:srgbClr val="0284C7"/>
            </a:solidFill>
          </p:spPr>
        </p:sp>
      </p:grpSp>
      <p:grpSp>
        <p:nvGrpSpPr>
          <p:cNvPr id="4" name="Group 4"/>
          <p:cNvGrpSpPr/>
          <p:nvPr/>
        </p:nvGrpSpPr>
        <p:grpSpPr>
          <a:xfrm>
            <a:off x="907256" y="3336131"/>
            <a:ext cx="16473488" cy="1085850"/>
            <a:chOff x="0" y="0"/>
            <a:chExt cx="21964650" cy="1447800"/>
          </a:xfrm>
        </p:grpSpPr>
        <p:sp>
          <p:nvSpPr>
            <p:cNvPr id="5" name="Freeform 5"/>
            <p:cNvSpPr/>
            <p:nvPr/>
          </p:nvSpPr>
          <p:spPr>
            <a:xfrm>
              <a:off x="0" y="0"/>
              <a:ext cx="21964650" cy="1447800"/>
            </a:xfrm>
            <a:custGeom>
              <a:avLst/>
              <a:gdLst/>
              <a:ahLst/>
              <a:cxnLst/>
              <a:rect l="l" t="t" r="r" b="b"/>
              <a:pathLst>
                <a:path w="21964650" h="1447800">
                  <a:moveTo>
                    <a:pt x="0" y="193040"/>
                  </a:moveTo>
                  <a:cubicBezTo>
                    <a:pt x="0" y="86487"/>
                    <a:pt x="86487" y="0"/>
                    <a:pt x="193040" y="0"/>
                  </a:cubicBezTo>
                  <a:lnTo>
                    <a:pt x="21771611" y="0"/>
                  </a:lnTo>
                  <a:cubicBezTo>
                    <a:pt x="21878164" y="0"/>
                    <a:pt x="21964650" y="86487"/>
                    <a:pt x="21964650" y="193040"/>
                  </a:cubicBezTo>
                  <a:lnTo>
                    <a:pt x="21964650" y="1254760"/>
                  </a:lnTo>
                  <a:cubicBezTo>
                    <a:pt x="21964650" y="1361313"/>
                    <a:pt x="21878164" y="1447800"/>
                    <a:pt x="21771611" y="1447800"/>
                  </a:cubicBezTo>
                  <a:lnTo>
                    <a:pt x="193040" y="1447800"/>
                  </a:lnTo>
                  <a:cubicBezTo>
                    <a:pt x="86487" y="1447800"/>
                    <a:pt x="0" y="1361313"/>
                    <a:pt x="0" y="1254760"/>
                  </a:cubicBezTo>
                  <a:close/>
                </a:path>
              </a:pathLst>
            </a:custGeom>
            <a:solidFill>
              <a:srgbClr val="F8FAFC"/>
            </a:solidFill>
            <a:ln w="14288" cap="sq">
              <a:solidFill>
                <a:srgbClr val="E2E8F0"/>
              </a:solidFill>
              <a:prstDash val="solid"/>
              <a:miter/>
            </a:ln>
          </p:spPr>
        </p:sp>
      </p:grpSp>
      <p:grpSp>
        <p:nvGrpSpPr>
          <p:cNvPr id="6" name="Group 6"/>
          <p:cNvGrpSpPr/>
          <p:nvPr/>
        </p:nvGrpSpPr>
        <p:grpSpPr>
          <a:xfrm>
            <a:off x="907256" y="4607719"/>
            <a:ext cx="16473488" cy="1085850"/>
            <a:chOff x="0" y="0"/>
            <a:chExt cx="21964650" cy="1447800"/>
          </a:xfrm>
        </p:grpSpPr>
        <p:sp>
          <p:nvSpPr>
            <p:cNvPr id="7" name="Freeform 7"/>
            <p:cNvSpPr/>
            <p:nvPr/>
          </p:nvSpPr>
          <p:spPr>
            <a:xfrm>
              <a:off x="0" y="0"/>
              <a:ext cx="21964650" cy="1447800"/>
            </a:xfrm>
            <a:custGeom>
              <a:avLst/>
              <a:gdLst/>
              <a:ahLst/>
              <a:cxnLst/>
              <a:rect l="l" t="t" r="r" b="b"/>
              <a:pathLst>
                <a:path w="21964650" h="1447800">
                  <a:moveTo>
                    <a:pt x="0" y="193040"/>
                  </a:moveTo>
                  <a:cubicBezTo>
                    <a:pt x="0" y="86487"/>
                    <a:pt x="86487" y="0"/>
                    <a:pt x="193040" y="0"/>
                  </a:cubicBezTo>
                  <a:lnTo>
                    <a:pt x="21771611" y="0"/>
                  </a:lnTo>
                  <a:cubicBezTo>
                    <a:pt x="21878164" y="0"/>
                    <a:pt x="21964650" y="86487"/>
                    <a:pt x="21964650" y="193040"/>
                  </a:cubicBezTo>
                  <a:lnTo>
                    <a:pt x="21964650" y="1254760"/>
                  </a:lnTo>
                  <a:cubicBezTo>
                    <a:pt x="21964650" y="1361313"/>
                    <a:pt x="21878164" y="1447800"/>
                    <a:pt x="21771611" y="1447800"/>
                  </a:cubicBezTo>
                  <a:lnTo>
                    <a:pt x="193040" y="1447800"/>
                  </a:lnTo>
                  <a:cubicBezTo>
                    <a:pt x="86487" y="1447800"/>
                    <a:pt x="0" y="1361313"/>
                    <a:pt x="0" y="1254760"/>
                  </a:cubicBezTo>
                  <a:close/>
                </a:path>
              </a:pathLst>
            </a:custGeom>
            <a:solidFill>
              <a:srgbClr val="F8FAFC"/>
            </a:solidFill>
            <a:ln w="14288" cap="sq">
              <a:solidFill>
                <a:srgbClr val="E2E8F0"/>
              </a:solidFill>
              <a:prstDash val="solid"/>
              <a:miter/>
            </a:ln>
          </p:spPr>
        </p:sp>
      </p:grpSp>
      <p:grpSp>
        <p:nvGrpSpPr>
          <p:cNvPr id="8" name="Group 8"/>
          <p:cNvGrpSpPr/>
          <p:nvPr/>
        </p:nvGrpSpPr>
        <p:grpSpPr>
          <a:xfrm>
            <a:off x="907256" y="5879306"/>
            <a:ext cx="16473488" cy="1085850"/>
            <a:chOff x="0" y="0"/>
            <a:chExt cx="21964650" cy="1447800"/>
          </a:xfrm>
        </p:grpSpPr>
        <p:sp>
          <p:nvSpPr>
            <p:cNvPr id="9" name="Freeform 9"/>
            <p:cNvSpPr/>
            <p:nvPr/>
          </p:nvSpPr>
          <p:spPr>
            <a:xfrm>
              <a:off x="0" y="0"/>
              <a:ext cx="21964650" cy="1447800"/>
            </a:xfrm>
            <a:custGeom>
              <a:avLst/>
              <a:gdLst/>
              <a:ahLst/>
              <a:cxnLst/>
              <a:rect l="l" t="t" r="r" b="b"/>
              <a:pathLst>
                <a:path w="21964650" h="1447800">
                  <a:moveTo>
                    <a:pt x="0" y="193040"/>
                  </a:moveTo>
                  <a:cubicBezTo>
                    <a:pt x="0" y="86487"/>
                    <a:pt x="86487" y="0"/>
                    <a:pt x="193040" y="0"/>
                  </a:cubicBezTo>
                  <a:lnTo>
                    <a:pt x="21771611" y="0"/>
                  </a:lnTo>
                  <a:cubicBezTo>
                    <a:pt x="21878164" y="0"/>
                    <a:pt x="21964650" y="86487"/>
                    <a:pt x="21964650" y="193040"/>
                  </a:cubicBezTo>
                  <a:lnTo>
                    <a:pt x="21964650" y="1254760"/>
                  </a:lnTo>
                  <a:cubicBezTo>
                    <a:pt x="21964650" y="1361313"/>
                    <a:pt x="21878164" y="1447800"/>
                    <a:pt x="21771611" y="1447800"/>
                  </a:cubicBezTo>
                  <a:lnTo>
                    <a:pt x="193040" y="1447800"/>
                  </a:lnTo>
                  <a:cubicBezTo>
                    <a:pt x="86487" y="1447800"/>
                    <a:pt x="0" y="1361313"/>
                    <a:pt x="0" y="1254760"/>
                  </a:cubicBezTo>
                  <a:close/>
                </a:path>
              </a:pathLst>
            </a:custGeom>
            <a:solidFill>
              <a:srgbClr val="F8FAFC"/>
            </a:solidFill>
            <a:ln w="14288" cap="sq">
              <a:solidFill>
                <a:srgbClr val="E2E8F0"/>
              </a:solidFill>
              <a:prstDash val="solid"/>
              <a:miter/>
            </a:ln>
          </p:spPr>
        </p:sp>
      </p:grpSp>
      <p:grpSp>
        <p:nvGrpSpPr>
          <p:cNvPr id="10" name="Group 10"/>
          <p:cNvGrpSpPr/>
          <p:nvPr/>
        </p:nvGrpSpPr>
        <p:grpSpPr>
          <a:xfrm>
            <a:off x="907256" y="7150894"/>
            <a:ext cx="16473488" cy="1085850"/>
            <a:chOff x="0" y="0"/>
            <a:chExt cx="21964650" cy="1447800"/>
          </a:xfrm>
        </p:grpSpPr>
        <p:sp>
          <p:nvSpPr>
            <p:cNvPr id="11" name="Freeform 11"/>
            <p:cNvSpPr/>
            <p:nvPr/>
          </p:nvSpPr>
          <p:spPr>
            <a:xfrm>
              <a:off x="0" y="0"/>
              <a:ext cx="21964650" cy="1447800"/>
            </a:xfrm>
            <a:custGeom>
              <a:avLst/>
              <a:gdLst/>
              <a:ahLst/>
              <a:cxnLst/>
              <a:rect l="l" t="t" r="r" b="b"/>
              <a:pathLst>
                <a:path w="21964650" h="1447800">
                  <a:moveTo>
                    <a:pt x="0" y="193040"/>
                  </a:moveTo>
                  <a:cubicBezTo>
                    <a:pt x="0" y="86487"/>
                    <a:pt x="86487" y="0"/>
                    <a:pt x="193040" y="0"/>
                  </a:cubicBezTo>
                  <a:lnTo>
                    <a:pt x="21771611" y="0"/>
                  </a:lnTo>
                  <a:cubicBezTo>
                    <a:pt x="21878164" y="0"/>
                    <a:pt x="21964650" y="86487"/>
                    <a:pt x="21964650" y="193040"/>
                  </a:cubicBezTo>
                  <a:lnTo>
                    <a:pt x="21964650" y="1254760"/>
                  </a:lnTo>
                  <a:cubicBezTo>
                    <a:pt x="21964650" y="1361313"/>
                    <a:pt x="21878164" y="1447800"/>
                    <a:pt x="21771611" y="1447800"/>
                  </a:cubicBezTo>
                  <a:lnTo>
                    <a:pt x="193040" y="1447800"/>
                  </a:lnTo>
                  <a:cubicBezTo>
                    <a:pt x="86487" y="1447800"/>
                    <a:pt x="0" y="1361313"/>
                    <a:pt x="0" y="1254760"/>
                  </a:cubicBezTo>
                  <a:close/>
                </a:path>
              </a:pathLst>
            </a:custGeom>
            <a:solidFill>
              <a:srgbClr val="F8FAFC"/>
            </a:solidFill>
            <a:ln w="14288" cap="sq">
              <a:solidFill>
                <a:srgbClr val="E2E8F0"/>
              </a:solidFill>
              <a:prstDash val="solid"/>
              <a:miter/>
            </a:ln>
          </p:spPr>
        </p:sp>
      </p:grpSp>
      <p:sp>
        <p:nvSpPr>
          <p:cNvPr id="12" name="TextBox 12"/>
          <p:cNvSpPr txBox="1"/>
          <p:nvPr/>
        </p:nvSpPr>
        <p:spPr>
          <a:xfrm>
            <a:off x="914400" y="885825"/>
            <a:ext cx="3705463" cy="628650"/>
          </a:xfrm>
          <a:prstGeom prst="rect">
            <a:avLst/>
          </a:prstGeom>
        </p:spPr>
        <p:txBody>
          <a:bodyPr lIns="0" tIns="0" rIns="0" bIns="0" rtlCol="0" anchor="t">
            <a:spAutoFit/>
          </a:bodyPr>
          <a:lstStyle/>
          <a:p>
            <a:pPr algn="l">
              <a:lnSpc>
                <a:spcPts val="4320"/>
              </a:lnSpc>
            </a:pPr>
            <a:r>
              <a:rPr lang="en-US" sz="3600" b="1">
                <a:solidFill>
                  <a:srgbClr val="0F172A"/>
                </a:solidFill>
                <a:latin typeface="Arimo Bold"/>
                <a:ea typeface="Arimo Bold"/>
                <a:cs typeface="Arimo Bold"/>
                <a:sym typeface="Arimo Bold"/>
              </a:rPr>
              <a:t>FUTURE SCOPE</a:t>
            </a:r>
          </a:p>
        </p:txBody>
      </p:sp>
      <p:sp>
        <p:nvSpPr>
          <p:cNvPr id="13" name="TextBox 13"/>
          <p:cNvSpPr txBox="1"/>
          <p:nvPr/>
        </p:nvSpPr>
        <p:spPr>
          <a:xfrm>
            <a:off x="1214438" y="3548063"/>
            <a:ext cx="17073562" cy="323850"/>
          </a:xfrm>
          <a:prstGeom prst="rect">
            <a:avLst/>
          </a:prstGeom>
        </p:spPr>
        <p:txBody>
          <a:bodyPr lIns="0" tIns="0" rIns="0" bIns="0" rtlCol="0" anchor="t">
            <a:spAutoFit/>
          </a:bodyPr>
          <a:lstStyle/>
          <a:p>
            <a:pPr algn="l">
              <a:lnSpc>
                <a:spcPts val="2295"/>
              </a:lnSpc>
            </a:pPr>
            <a:r>
              <a:rPr lang="en-US" sz="1912" b="1">
                <a:solidFill>
                  <a:srgbClr val="0284C7"/>
                </a:solidFill>
                <a:latin typeface="Arimo Bold"/>
                <a:ea typeface="Arimo Bold"/>
                <a:cs typeface="Arimo Bold"/>
                <a:sym typeface="Arimo Bold"/>
              </a:rPr>
              <a:t>Predictive Machine Learning Integration:</a:t>
            </a:r>
          </a:p>
        </p:txBody>
      </p:sp>
      <p:sp>
        <p:nvSpPr>
          <p:cNvPr id="14" name="TextBox 14"/>
          <p:cNvSpPr txBox="1"/>
          <p:nvPr/>
        </p:nvSpPr>
        <p:spPr>
          <a:xfrm>
            <a:off x="1214438" y="3929062"/>
            <a:ext cx="17073562" cy="271462"/>
          </a:xfrm>
          <a:prstGeom prst="rect">
            <a:avLst/>
          </a:prstGeom>
        </p:spPr>
        <p:txBody>
          <a:bodyPr lIns="0" tIns="0" rIns="0" bIns="0" rtlCol="0" anchor="t">
            <a:spAutoFit/>
          </a:bodyPr>
          <a:lstStyle/>
          <a:p>
            <a:pPr algn="l">
              <a:lnSpc>
                <a:spcPts val="2025"/>
              </a:lnSpc>
            </a:pPr>
            <a:r>
              <a:rPr lang="en-US" sz="1687">
                <a:solidFill>
                  <a:srgbClr val="334155"/>
                </a:solidFill>
                <a:latin typeface="Inter"/>
                <a:ea typeface="Inter"/>
                <a:cs typeface="Inter"/>
                <a:sym typeface="Inter"/>
              </a:rPr>
              <a:t>Train Zero-Inflated Poisson (ZIP), Random Forest, and LightGBM models to predict frequent visit propensity and identify at-risk readmission patients.</a:t>
            </a:r>
          </a:p>
        </p:txBody>
      </p:sp>
      <p:sp>
        <p:nvSpPr>
          <p:cNvPr id="15" name="TextBox 15"/>
          <p:cNvSpPr txBox="1"/>
          <p:nvPr/>
        </p:nvSpPr>
        <p:spPr>
          <a:xfrm>
            <a:off x="1214438" y="4819650"/>
            <a:ext cx="17073562" cy="323850"/>
          </a:xfrm>
          <a:prstGeom prst="rect">
            <a:avLst/>
          </a:prstGeom>
        </p:spPr>
        <p:txBody>
          <a:bodyPr lIns="0" tIns="0" rIns="0" bIns="0" rtlCol="0" anchor="t">
            <a:spAutoFit/>
          </a:bodyPr>
          <a:lstStyle/>
          <a:p>
            <a:pPr algn="l">
              <a:lnSpc>
                <a:spcPts val="2295"/>
              </a:lnSpc>
            </a:pPr>
            <a:r>
              <a:rPr lang="en-US" sz="1912" b="1">
                <a:solidFill>
                  <a:srgbClr val="0284C7"/>
                </a:solidFill>
                <a:latin typeface="Arimo Bold"/>
                <a:ea typeface="Arimo Bold"/>
                <a:cs typeface="Arimo Bold"/>
                <a:sym typeface="Arimo Bold"/>
              </a:rPr>
              <a:t>Longitudinal Health Record Tracking:</a:t>
            </a:r>
          </a:p>
        </p:txBody>
      </p:sp>
      <p:sp>
        <p:nvSpPr>
          <p:cNvPr id="16" name="TextBox 16"/>
          <p:cNvSpPr txBox="1"/>
          <p:nvPr/>
        </p:nvSpPr>
        <p:spPr>
          <a:xfrm>
            <a:off x="1214438" y="5200650"/>
            <a:ext cx="17073562" cy="271462"/>
          </a:xfrm>
          <a:prstGeom prst="rect">
            <a:avLst/>
          </a:prstGeom>
        </p:spPr>
        <p:txBody>
          <a:bodyPr lIns="0" tIns="0" rIns="0" bIns="0" rtlCol="0" anchor="t">
            <a:spAutoFit/>
          </a:bodyPr>
          <a:lstStyle/>
          <a:p>
            <a:pPr algn="l">
              <a:lnSpc>
                <a:spcPts val="2025"/>
              </a:lnSpc>
            </a:pPr>
            <a:r>
              <a:rPr lang="en-US" sz="1687">
                <a:solidFill>
                  <a:srgbClr val="334155"/>
                </a:solidFill>
                <a:latin typeface="Inter"/>
                <a:ea typeface="Inter"/>
                <a:cs typeface="Inter"/>
                <a:sym typeface="Inter"/>
              </a:rPr>
              <a:t>Incorporate multi-year electronic health records (EHR) to track individual patient progression and chronic illness escalation over time.</a:t>
            </a:r>
          </a:p>
        </p:txBody>
      </p:sp>
      <p:sp>
        <p:nvSpPr>
          <p:cNvPr id="17" name="TextBox 17"/>
          <p:cNvSpPr txBox="1"/>
          <p:nvPr/>
        </p:nvSpPr>
        <p:spPr>
          <a:xfrm>
            <a:off x="1214438" y="6091237"/>
            <a:ext cx="17073562" cy="323850"/>
          </a:xfrm>
          <a:prstGeom prst="rect">
            <a:avLst/>
          </a:prstGeom>
        </p:spPr>
        <p:txBody>
          <a:bodyPr lIns="0" tIns="0" rIns="0" bIns="0" rtlCol="0" anchor="t">
            <a:spAutoFit/>
          </a:bodyPr>
          <a:lstStyle/>
          <a:p>
            <a:pPr algn="l">
              <a:lnSpc>
                <a:spcPts val="2295"/>
              </a:lnSpc>
            </a:pPr>
            <a:r>
              <a:rPr lang="en-US" sz="1912" b="1">
                <a:solidFill>
                  <a:srgbClr val="0284C7"/>
                </a:solidFill>
                <a:latin typeface="Arimo Bold"/>
                <a:ea typeface="Arimo Bold"/>
                <a:cs typeface="Arimo Bold"/>
                <a:sym typeface="Arimo Bold"/>
              </a:rPr>
              <a:t>Clinical Diagnostic &amp; Prescription Modeling:</a:t>
            </a:r>
          </a:p>
        </p:txBody>
      </p:sp>
      <p:sp>
        <p:nvSpPr>
          <p:cNvPr id="18" name="TextBox 18"/>
          <p:cNvSpPr txBox="1"/>
          <p:nvPr/>
        </p:nvSpPr>
        <p:spPr>
          <a:xfrm>
            <a:off x="1214438" y="6472238"/>
            <a:ext cx="17073562" cy="271462"/>
          </a:xfrm>
          <a:prstGeom prst="rect">
            <a:avLst/>
          </a:prstGeom>
        </p:spPr>
        <p:txBody>
          <a:bodyPr lIns="0" tIns="0" rIns="0" bIns="0" rtlCol="0" anchor="t">
            <a:spAutoFit/>
          </a:bodyPr>
          <a:lstStyle/>
          <a:p>
            <a:pPr algn="l">
              <a:lnSpc>
                <a:spcPts val="2025"/>
              </a:lnSpc>
            </a:pPr>
            <a:r>
              <a:rPr lang="en-US" sz="1687">
                <a:solidFill>
                  <a:srgbClr val="334155"/>
                </a:solidFill>
                <a:latin typeface="Inter"/>
                <a:ea typeface="Inter"/>
                <a:cs typeface="Inter"/>
                <a:sym typeface="Inter"/>
              </a:rPr>
              <a:t>Integrate ICD diagnosis categories and pharmacy prescription data to separate routine consultations from acute emergency interventions.</a:t>
            </a:r>
          </a:p>
        </p:txBody>
      </p:sp>
      <p:sp>
        <p:nvSpPr>
          <p:cNvPr id="19" name="TextBox 19"/>
          <p:cNvSpPr txBox="1"/>
          <p:nvPr/>
        </p:nvSpPr>
        <p:spPr>
          <a:xfrm>
            <a:off x="1214438" y="7362825"/>
            <a:ext cx="17073562" cy="323850"/>
          </a:xfrm>
          <a:prstGeom prst="rect">
            <a:avLst/>
          </a:prstGeom>
        </p:spPr>
        <p:txBody>
          <a:bodyPr lIns="0" tIns="0" rIns="0" bIns="0" rtlCol="0" anchor="t">
            <a:spAutoFit/>
          </a:bodyPr>
          <a:lstStyle/>
          <a:p>
            <a:pPr algn="l">
              <a:lnSpc>
                <a:spcPts val="2295"/>
              </a:lnSpc>
            </a:pPr>
            <a:r>
              <a:rPr lang="en-US" sz="1912" b="1">
                <a:solidFill>
                  <a:srgbClr val="0284C7"/>
                </a:solidFill>
                <a:latin typeface="Arimo Bold"/>
                <a:ea typeface="Arimo Bold"/>
                <a:cs typeface="Arimo Bold"/>
                <a:sym typeface="Arimo Bold"/>
              </a:rPr>
              <a:t>Real-Time Clinical Triage Dashboard:</a:t>
            </a:r>
          </a:p>
        </p:txBody>
      </p:sp>
      <p:sp>
        <p:nvSpPr>
          <p:cNvPr id="20" name="TextBox 20"/>
          <p:cNvSpPr txBox="1"/>
          <p:nvPr/>
        </p:nvSpPr>
        <p:spPr>
          <a:xfrm>
            <a:off x="1214438" y="7743825"/>
            <a:ext cx="17073562" cy="271462"/>
          </a:xfrm>
          <a:prstGeom prst="rect">
            <a:avLst/>
          </a:prstGeom>
        </p:spPr>
        <p:txBody>
          <a:bodyPr lIns="0" tIns="0" rIns="0" bIns="0" rtlCol="0" anchor="t">
            <a:spAutoFit/>
          </a:bodyPr>
          <a:lstStyle/>
          <a:p>
            <a:pPr algn="l">
              <a:lnSpc>
                <a:spcPts val="2025"/>
              </a:lnSpc>
            </a:pPr>
            <a:r>
              <a:rPr lang="en-US" sz="1687">
                <a:solidFill>
                  <a:srgbClr val="334155"/>
                </a:solidFill>
                <a:latin typeface="Inter"/>
                <a:ea typeface="Inter"/>
                <a:cs typeface="Inter"/>
                <a:sym typeface="Inter"/>
              </a:rPr>
              <a:t>Deploy a Streamlit / Dash web platform for hospital planners to dynamically predict weekly outpatient clinic capacity and doctor shift requirements.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91426"/>
        </a:solidFill>
        <a:effectLst/>
      </p:bgPr>
    </p:bg>
    <p:spTree>
      <p:nvGrpSpPr>
        <p:cNvPr id="1" name=""/>
        <p:cNvGrpSpPr/>
        <p:nvPr/>
      </p:nvGrpSpPr>
      <p:grpSpPr>
        <a:xfrm>
          <a:off x="0" y="0"/>
          <a:ext cx="0" cy="0"/>
          <a:chOff x="0" y="0"/>
          <a:chExt cx="0" cy="0"/>
        </a:xfrm>
      </p:grpSpPr>
      <p:grpSp>
        <p:nvGrpSpPr>
          <p:cNvPr id="2" name="Group 2"/>
          <p:cNvGrpSpPr/>
          <p:nvPr/>
        </p:nvGrpSpPr>
        <p:grpSpPr>
          <a:xfrm>
            <a:off x="7429500" y="6900862"/>
            <a:ext cx="3429000" cy="14288"/>
            <a:chOff x="0" y="0"/>
            <a:chExt cx="4572000" cy="19050"/>
          </a:xfrm>
        </p:grpSpPr>
        <p:sp>
          <p:nvSpPr>
            <p:cNvPr id="3" name="Freeform 3"/>
            <p:cNvSpPr/>
            <p:nvPr/>
          </p:nvSpPr>
          <p:spPr>
            <a:xfrm>
              <a:off x="0" y="0"/>
              <a:ext cx="4572000" cy="19050"/>
            </a:xfrm>
            <a:custGeom>
              <a:avLst/>
              <a:gdLst/>
              <a:ahLst/>
              <a:cxnLst/>
              <a:rect l="l" t="t" r="r" b="b"/>
              <a:pathLst>
                <a:path w="4572000" h="19050">
                  <a:moveTo>
                    <a:pt x="0" y="0"/>
                  </a:moveTo>
                  <a:lnTo>
                    <a:pt x="4572000" y="0"/>
                  </a:lnTo>
                  <a:lnTo>
                    <a:pt x="4572000" y="19050"/>
                  </a:lnTo>
                  <a:lnTo>
                    <a:pt x="0" y="19050"/>
                  </a:lnTo>
                  <a:close/>
                </a:path>
              </a:pathLst>
            </a:custGeom>
            <a:solidFill>
              <a:srgbClr val="334155"/>
            </a:solidFill>
          </p:spPr>
        </p:sp>
      </p:grpSp>
      <p:grpSp>
        <p:nvGrpSpPr>
          <p:cNvPr id="4" name="Group 4"/>
          <p:cNvGrpSpPr/>
          <p:nvPr/>
        </p:nvGrpSpPr>
        <p:grpSpPr>
          <a:xfrm>
            <a:off x="3921919" y="6360319"/>
            <a:ext cx="300038" cy="314325"/>
            <a:chOff x="0" y="0"/>
            <a:chExt cx="400050" cy="419100"/>
          </a:xfrm>
        </p:grpSpPr>
        <p:sp>
          <p:nvSpPr>
            <p:cNvPr id="5" name="Freeform 5" descr="image.png"/>
            <p:cNvSpPr/>
            <p:nvPr/>
          </p:nvSpPr>
          <p:spPr>
            <a:xfrm>
              <a:off x="0" y="0"/>
              <a:ext cx="400050" cy="419100"/>
            </a:xfrm>
            <a:custGeom>
              <a:avLst/>
              <a:gdLst/>
              <a:ahLst/>
              <a:cxnLst/>
              <a:rect l="l" t="t" r="r" b="b"/>
              <a:pathLst>
                <a:path w="400050" h="419100">
                  <a:moveTo>
                    <a:pt x="0" y="0"/>
                  </a:moveTo>
                  <a:lnTo>
                    <a:pt x="400050" y="0"/>
                  </a:lnTo>
                  <a:lnTo>
                    <a:pt x="400050" y="419100"/>
                  </a:lnTo>
                  <a:lnTo>
                    <a:pt x="0" y="419100"/>
                  </a:lnTo>
                  <a:lnTo>
                    <a:pt x="0" y="0"/>
                  </a:lnTo>
                  <a:close/>
                </a:path>
              </a:pathLst>
            </a:custGeom>
            <a:blipFill>
              <a:blip r:embed="rId2"/>
              <a:stretch>
                <a:fillRect l="-2380" r="-2380"/>
              </a:stretch>
            </a:blipFill>
          </p:spPr>
        </p:sp>
      </p:grpSp>
      <p:sp>
        <p:nvSpPr>
          <p:cNvPr id="6" name="TextBox 6"/>
          <p:cNvSpPr txBox="1"/>
          <p:nvPr/>
        </p:nvSpPr>
        <p:spPr>
          <a:xfrm>
            <a:off x="6471790" y="3895725"/>
            <a:ext cx="5344420" cy="1033462"/>
          </a:xfrm>
          <a:prstGeom prst="rect">
            <a:avLst/>
          </a:prstGeom>
        </p:spPr>
        <p:txBody>
          <a:bodyPr lIns="0" tIns="0" rIns="0" bIns="0" rtlCol="0" anchor="t">
            <a:spAutoFit/>
          </a:bodyPr>
          <a:lstStyle/>
          <a:p>
            <a:pPr algn="ctr">
              <a:lnSpc>
                <a:spcPts val="7559"/>
              </a:lnSpc>
            </a:pPr>
            <a:r>
              <a:rPr lang="en-US" sz="6300" b="1">
                <a:solidFill>
                  <a:srgbClr val="FFFFFF"/>
                </a:solidFill>
                <a:latin typeface="Arimo Bold"/>
                <a:ea typeface="Arimo Bold"/>
                <a:cs typeface="Arimo Bold"/>
                <a:sym typeface="Arimo Bold"/>
              </a:rPr>
              <a:t>Thank you</a:t>
            </a:r>
          </a:p>
        </p:txBody>
      </p:sp>
      <p:sp>
        <p:nvSpPr>
          <p:cNvPr id="7" name="TextBox 7"/>
          <p:cNvSpPr txBox="1"/>
          <p:nvPr/>
        </p:nvSpPr>
        <p:spPr>
          <a:xfrm>
            <a:off x="4071938" y="5148263"/>
            <a:ext cx="10144125" cy="366713"/>
          </a:xfrm>
          <a:prstGeom prst="rect">
            <a:avLst/>
          </a:prstGeom>
        </p:spPr>
        <p:txBody>
          <a:bodyPr lIns="0" tIns="0" rIns="0" bIns="0" rtlCol="0" anchor="t">
            <a:spAutoFit/>
          </a:bodyPr>
          <a:lstStyle/>
          <a:p>
            <a:pPr algn="ctr">
              <a:lnSpc>
                <a:spcPts val="2700"/>
              </a:lnSpc>
            </a:pPr>
            <a:r>
              <a:rPr lang="en-US" sz="2250">
                <a:solidFill>
                  <a:srgbClr val="FFFFFF"/>
                </a:solidFill>
                <a:latin typeface="Inter"/>
                <a:ea typeface="Inter"/>
                <a:cs typeface="Inter"/>
                <a:sym typeface="Inter"/>
              </a:rPr>
              <a:t>Healthcare Analytics for Doctor Visits — Major Project Review</a:t>
            </a:r>
          </a:p>
        </p:txBody>
      </p:sp>
      <p:sp>
        <p:nvSpPr>
          <p:cNvPr id="8" name="TextBox 8"/>
          <p:cNvSpPr txBox="1"/>
          <p:nvPr/>
        </p:nvSpPr>
        <p:spPr>
          <a:xfrm>
            <a:off x="4400902" y="6388894"/>
            <a:ext cx="9957674" cy="264175"/>
          </a:xfrm>
          <a:prstGeom prst="rect">
            <a:avLst/>
          </a:prstGeom>
        </p:spPr>
        <p:txBody>
          <a:bodyPr lIns="0" tIns="0" rIns="0" bIns="0" rtlCol="0" anchor="t">
            <a:spAutoFit/>
          </a:bodyPr>
          <a:lstStyle/>
          <a:p>
            <a:pPr algn="ctr">
              <a:lnSpc>
                <a:spcPts val="2160"/>
              </a:lnSpc>
            </a:pPr>
            <a:r>
              <a:rPr lang="en-US" sz="1800" b="1" dirty="0">
                <a:solidFill>
                  <a:srgbClr val="38BDF8"/>
                </a:solidFill>
                <a:latin typeface="Arimo Bold"/>
                <a:ea typeface="Arimo Bold"/>
                <a:cs typeface="Arimo Bold"/>
                <a:sym typeface="Arimo Bold"/>
              </a:rPr>
              <a:t>GitHub Link :</a:t>
            </a:r>
            <a:r>
              <a:rPr lang="en-US" sz="1800" b="1" dirty="0">
                <a:solidFill>
                  <a:srgbClr val="38BDF8"/>
                </a:solidFill>
                <a:latin typeface="Arimo Bold"/>
                <a:ea typeface="Arimo Bold"/>
                <a:cs typeface="Arimo Bold"/>
                <a:sym typeface="Arimo Bold"/>
                <a:hlinkClick r:id="rId3"/>
              </a:rPr>
              <a:t>https://github.com/Chinmay-Salokhe/Healthcare-Analytics-for-Doctor-</a:t>
            </a:r>
            <a:r>
              <a:rPr lang="en-US" sz="1800" b="1" dirty="0" err="1">
                <a:solidFill>
                  <a:srgbClr val="38BDF8"/>
                </a:solidFill>
                <a:latin typeface="Arimo Bold"/>
                <a:ea typeface="Arimo Bold"/>
                <a:cs typeface="Arimo Bold"/>
                <a:sym typeface="Arimo Bold"/>
                <a:hlinkClick r:id="rId3"/>
              </a:rPr>
              <a:t>Visits.git</a:t>
            </a:r>
            <a:endParaRPr lang="en-US" sz="1800" b="1" dirty="0">
              <a:solidFill>
                <a:srgbClr val="38BDF8"/>
              </a:solidFill>
              <a:latin typeface="Arimo Bold"/>
              <a:ea typeface="Arimo Bold"/>
              <a:cs typeface="Arimo Bold"/>
              <a:sym typeface="Arimo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820</Words>
  <Application>Microsoft Office PowerPoint</Application>
  <PresentationFormat>Custom</PresentationFormat>
  <Paragraphs>73</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Inter Bold</vt:lpstr>
      <vt:lpstr>Arimo Bold</vt:lpstr>
      <vt:lpstr>Arial</vt:lpstr>
      <vt:lpstr>Inter</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Healthcare Analytics for Doctor Visits - Major Project.pptx</dc:title>
  <cp:lastModifiedBy>Chinmay Salokhe</cp:lastModifiedBy>
  <cp:revision>2</cp:revision>
  <dcterms:created xsi:type="dcterms:W3CDTF">2006-08-16T00:00:00Z</dcterms:created>
  <dcterms:modified xsi:type="dcterms:W3CDTF">2026-10-22T09:37:08Z</dcterms:modified>
  <dc:identifier>DAHYufMxUvE</dc:identifier>
</cp:coreProperties>
</file>